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type="screen16x9" cy="6858000" cx="12192000"/>
  <p:notesSz cx="6858000" cy="12192000"/>
  <p:embeddedFontLst>
    <p:embeddedFont>
      <p:font typeface="Raleway" pitchFamily="2" charset="0"/>
      <p:regular r:id="rId15"/>
    </p:embeddedFont>
    <p:embeddedFont>
      <p:font typeface="Raleway Light" pitchFamily="2" charset="0"/>
      <p:regular r:id="rId16"/>
    </p:embeddedFont>
    <p:embeddedFont>
      <p:font typeface="Roboto" panose="02000000000000000000" pitchFamily="2" charset="0"/>
      <p:regular r:id="rId17"/>
    </p:embeddedFont>
    <p:embeddedFont>
      <p:font typeface="Roboto Bold" panose="020B0604020202020204" charset="0"/>
      <p:regular r:id="rId18"/>
    </p:embeddedFont>
  </p:embeddedFontLst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ECECF3"/>
          </a:solidFill>
        </p:spPr>
      </p:sp>
      <p:sp>
        <p:nvSpPr>
          <p:cNvPr id="1048577" name="Shape 1"/>
          <p:cNvSpPr/>
          <p:nvPr/>
        </p:nvSpPr>
        <p:spPr>
          <a:xfrm>
            <a:off x="0" y="0"/>
            <a:ext cx="12191695" cy="6858000"/>
          </a:xfrm>
          <a:prstGeom prst="rect"/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Text 0"/>
          <p:cNvSpPr/>
          <p:nvPr/>
        </p:nvSpPr>
        <p:spPr>
          <a:xfrm>
            <a:off x="661475" y="1595338"/>
            <a:ext cx="10868745" cy="516731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32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 MW Solar Power Project — Gujarat</a:t>
            </a:r>
            <a:endParaRPr dirty="0" sz="3250" lang="en-US"/>
          </a:p>
        </p:txBody>
      </p:sp>
      <p:sp>
        <p:nvSpPr>
          <p:cNvPr id="1048579" name="Text 1"/>
          <p:cNvSpPr/>
          <p:nvPr/>
        </p:nvSpPr>
        <p:spPr>
          <a:xfrm>
            <a:off x="356682" y="2442766"/>
            <a:ext cx="11478330" cy="264616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long-term renewable energy asset opportunity for the discerning infrastructure investor</a:t>
            </a:r>
            <a:endParaRPr dirty="0" sz="1300" lang="en-US"/>
          </a:p>
        </p:txBody>
      </p:sp>
      <p:sp>
        <p:nvSpPr>
          <p:cNvPr id="1048580" name="Shape 2"/>
          <p:cNvSpPr/>
          <p:nvPr/>
        </p:nvSpPr>
        <p:spPr>
          <a:xfrm>
            <a:off x="661475" y="2893417"/>
            <a:ext cx="10868745" cy="1918494"/>
          </a:xfrm>
          <a:prstGeom prst="roundRect">
            <a:avLst>
              <a:gd name="adj" fmla="val 362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581" name="Shape 3"/>
          <p:cNvSpPr/>
          <p:nvPr/>
        </p:nvSpPr>
        <p:spPr>
          <a:xfrm>
            <a:off x="667825" y="2899767"/>
            <a:ext cx="5428023" cy="952897"/>
          </a:xfrm>
          <a:custGeom>
            <a:avLst/>
            <a:ahLst/>
            <a:rect l="l" t="t" r="r" b="b"/>
            <a:pathLst>
              <a:path w="5428023" h="952897">
                <a:moveTo>
                  <a:pt x="57887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0" y="952897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1048582" name="Text 4"/>
          <p:cNvSpPr/>
          <p:nvPr/>
        </p:nvSpPr>
        <p:spPr>
          <a:xfrm>
            <a:off x="833119" y="3065066"/>
            <a:ext cx="5097434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₹21 Crore</a:t>
            </a:r>
            <a:endParaRPr dirty="0" sz="1600" lang="en-US"/>
          </a:p>
        </p:txBody>
      </p:sp>
      <p:sp>
        <p:nvSpPr>
          <p:cNvPr id="1048583" name="Text 5"/>
          <p:cNvSpPr/>
          <p:nvPr/>
        </p:nvSpPr>
        <p:spPr>
          <a:xfrm>
            <a:off x="833119" y="3422749"/>
            <a:ext cx="5097434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Project Cost</a:t>
            </a:r>
            <a:endParaRPr dirty="0" sz="1300" lang="en-US"/>
          </a:p>
        </p:txBody>
      </p:sp>
      <p:sp>
        <p:nvSpPr>
          <p:cNvPr id="1048584" name="Shape 6"/>
          <p:cNvSpPr/>
          <p:nvPr/>
        </p:nvSpPr>
        <p:spPr>
          <a:xfrm>
            <a:off x="6095848" y="2899767"/>
            <a:ext cx="5428023" cy="952897"/>
          </a:xfrm>
          <a:custGeom>
            <a:avLst/>
            <a:ahLst/>
            <a:rect l="l" t="t" r="r" b="b"/>
            <a:pathLst>
              <a:path w="5428023" h="952897">
                <a:moveTo>
                  <a:pt x="0" y="0"/>
                </a:moveTo>
                <a:lnTo>
                  <a:pt x="5370136" y="0"/>
                </a:lnTo>
                <a:arcTo wR="57887" hR="57888" stAng="16200000" swAng="5400000"/>
                <a:lnTo>
                  <a:pt x="5428023" y="952897"/>
                </a:lnTo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048585" name="Shape 7"/>
          <p:cNvSpPr/>
          <p:nvPr/>
        </p:nvSpPr>
        <p:spPr>
          <a:xfrm>
            <a:off x="6095848" y="2899767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1048586" name="Text 8"/>
          <p:cNvSpPr/>
          <p:nvPr/>
        </p:nvSpPr>
        <p:spPr>
          <a:xfrm>
            <a:off x="6261142" y="3065066"/>
            <a:ext cx="5097434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₹6–7 Crore</a:t>
            </a:r>
            <a:endParaRPr dirty="0" sz="1600" lang="en-US"/>
          </a:p>
        </p:txBody>
      </p:sp>
      <p:sp>
        <p:nvSpPr>
          <p:cNvPr id="1048587" name="Text 9"/>
          <p:cNvSpPr/>
          <p:nvPr/>
        </p:nvSpPr>
        <p:spPr>
          <a:xfrm>
            <a:off x="6261142" y="3422749"/>
            <a:ext cx="5097434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Promoter Equity</a:t>
            </a:r>
            <a:endParaRPr dirty="0" sz="1300" lang="en-US"/>
          </a:p>
        </p:txBody>
      </p:sp>
      <p:sp>
        <p:nvSpPr>
          <p:cNvPr id="1048588" name="Shape 10"/>
          <p:cNvSpPr/>
          <p:nvPr/>
        </p:nvSpPr>
        <p:spPr>
          <a:xfrm>
            <a:off x="667825" y="3852664"/>
            <a:ext cx="5428023" cy="952897"/>
          </a:xfrm>
          <a:custGeom>
            <a:avLst/>
            <a:ah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57887" y="95289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048589" name="Shape 11"/>
          <p:cNvSpPr/>
          <p:nvPr/>
        </p:nvSpPr>
        <p:spPr>
          <a:xfrm>
            <a:off x="667825" y="3852664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1048590" name="Text 12"/>
          <p:cNvSpPr/>
          <p:nvPr/>
        </p:nvSpPr>
        <p:spPr>
          <a:xfrm>
            <a:off x="833119" y="4017962"/>
            <a:ext cx="5097434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8.5 MU/Year</a:t>
            </a:r>
            <a:endParaRPr dirty="0" sz="1600" lang="en-US"/>
          </a:p>
        </p:txBody>
      </p:sp>
      <p:sp>
        <p:nvSpPr>
          <p:cNvPr id="1048591" name="Text 13"/>
          <p:cNvSpPr/>
          <p:nvPr/>
        </p:nvSpPr>
        <p:spPr>
          <a:xfrm>
            <a:off x="833119" y="4375646"/>
            <a:ext cx="5097434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Generation</a:t>
            </a:r>
            <a:endParaRPr dirty="0" sz="1300" lang="en-US"/>
          </a:p>
        </p:txBody>
      </p:sp>
      <p:sp>
        <p:nvSpPr>
          <p:cNvPr id="1048592" name="Shape 14"/>
          <p:cNvSpPr/>
          <p:nvPr/>
        </p:nvSpPr>
        <p:spPr>
          <a:xfrm>
            <a:off x="6095848" y="3852664"/>
            <a:ext cx="5428023" cy="952897"/>
          </a:xfrm>
          <a:custGeom>
            <a:avLst/>
            <a:ah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895008"/>
                </a:lnTo>
                <a:arcTo wR="57887" hR="57888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048593" name="Shape 15"/>
          <p:cNvSpPr/>
          <p:nvPr/>
        </p:nvSpPr>
        <p:spPr>
          <a:xfrm>
            <a:off x="6095848" y="3852664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1048594" name="Shape 16"/>
          <p:cNvSpPr/>
          <p:nvPr/>
        </p:nvSpPr>
        <p:spPr>
          <a:xfrm>
            <a:off x="6095848" y="3852664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</p:spPr>
      </p:sp>
      <p:sp>
        <p:nvSpPr>
          <p:cNvPr id="1048595" name="Text 17"/>
          <p:cNvSpPr/>
          <p:nvPr/>
        </p:nvSpPr>
        <p:spPr>
          <a:xfrm>
            <a:off x="6261142" y="4017962"/>
            <a:ext cx="5097434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25+ Years</a:t>
            </a:r>
            <a:endParaRPr dirty="0" sz="1600" lang="en-US"/>
          </a:p>
        </p:txBody>
      </p:sp>
      <p:sp>
        <p:nvSpPr>
          <p:cNvPr id="1048596" name="Text 18"/>
          <p:cNvSpPr/>
          <p:nvPr/>
        </p:nvSpPr>
        <p:spPr>
          <a:xfrm>
            <a:off x="6261142" y="4375646"/>
            <a:ext cx="5097434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Asset Operating Life</a:t>
            </a:r>
            <a:endParaRPr dirty="0" sz="1300" lang="en-US"/>
          </a:p>
        </p:txBody>
      </p:sp>
      <p:sp>
        <p:nvSpPr>
          <p:cNvPr id="1048597" name="Text 19"/>
          <p:cNvSpPr/>
          <p:nvPr/>
        </p:nvSpPr>
        <p:spPr>
          <a:xfrm>
            <a:off x="356682" y="4997946"/>
            <a:ext cx="11478330" cy="264616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33000"/>
              </a:lnSpc>
              <a:buNone/>
            </a:pPr>
            <a:r>
              <a:rPr dirty="0" sz="1300" i="1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for Private Review — Gujarat, India</a:t>
            </a:r>
            <a:endParaRPr dirty="0" sz="13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hape 0"/>
          <p:cNvSpPr/>
          <p:nvPr/>
        </p:nvSpPr>
        <p:spPr>
          <a:xfrm>
            <a:off x="661475" y="1013916"/>
            <a:ext cx="2435759" cy="251420"/>
          </a:xfrm>
          <a:prstGeom prst="roundRect">
            <a:avLst>
              <a:gd name="adj" fmla="val 22103"/>
            </a:avLst>
          </a:prstGeom>
          <a:solidFill>
            <a:srgbClr val="E1E1EA"/>
          </a:solidFill>
        </p:spPr>
      </p:sp>
      <p:sp>
        <p:nvSpPr>
          <p:cNvPr id="1048602" name="Text 1"/>
          <p:cNvSpPr/>
          <p:nvPr/>
        </p:nvSpPr>
        <p:spPr>
          <a:xfrm>
            <a:off x="760691" y="1063526"/>
            <a:ext cx="2846912" cy="15220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OPPORTUNITY SNAPSHOT</a:t>
            </a:r>
            <a:endParaRPr dirty="0" sz="1000" lang="en-US"/>
          </a:p>
        </p:txBody>
      </p:sp>
      <p:sp>
        <p:nvSpPr>
          <p:cNvPr id="1048603" name="Text 2"/>
          <p:cNvSpPr/>
          <p:nvPr/>
        </p:nvSpPr>
        <p:spPr>
          <a:xfrm>
            <a:off x="661475" y="1331416"/>
            <a:ext cx="10868745" cy="51673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2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Investment Thesis</a:t>
            </a:r>
            <a:endParaRPr dirty="0" sz="3250" lang="en-US"/>
          </a:p>
        </p:txBody>
      </p:sp>
      <p:sp>
        <p:nvSpPr>
          <p:cNvPr id="1048604" name="Text 3"/>
          <p:cNvSpPr/>
          <p:nvPr/>
        </p:nvSpPr>
        <p:spPr>
          <a:xfrm>
            <a:off x="661475" y="2096195"/>
            <a:ext cx="10868745" cy="52923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promoter invests </a:t>
            </a:r>
            <a:r>
              <a:rPr b="1" dirty="0" sz="130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₹6–7 Crore as promoter equity</a:t>
            </a: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owns a long-life, power-generating infrastructure asset. Project debt finances the balance. This is not a short-cycle business — it is a 25-year asset with predictable cash flows and no fuel cost exposure.</a:t>
            </a:r>
            <a:endParaRPr dirty="0" sz="1300" lang="en-US"/>
          </a:p>
        </p:txBody>
      </p:sp>
      <p:sp>
        <p:nvSpPr>
          <p:cNvPr id="1048605" name="Shape 4"/>
          <p:cNvSpPr/>
          <p:nvPr/>
        </p:nvSpPr>
        <p:spPr>
          <a:xfrm>
            <a:off x="542415" y="2811463"/>
            <a:ext cx="5470785" cy="3032522"/>
          </a:xfrm>
          <a:prstGeom prst="roundRect">
            <a:avLst>
              <a:gd name="adj" fmla="val 3927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1048606" name="Text 5"/>
          <p:cNvSpPr/>
          <p:nvPr/>
        </p:nvSpPr>
        <p:spPr>
          <a:xfrm>
            <a:off x="707710" y="2976761"/>
            <a:ext cx="5140196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Parameters</a:t>
            </a:r>
            <a:endParaRPr dirty="0" sz="1600" lang="en-US"/>
          </a:p>
        </p:txBody>
      </p:sp>
      <p:pic>
        <p:nvPicPr>
          <p:cNvPr id="209715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88660" y="3402211"/>
            <a:ext cx="2485764" cy="726480"/>
          </a:xfrm>
          <a:prstGeom prst="rect"/>
        </p:spPr>
      </p:pic>
      <p:sp>
        <p:nvSpPr>
          <p:cNvPr id="1048607" name="Text 6"/>
          <p:cNvSpPr/>
          <p:nvPr/>
        </p:nvSpPr>
        <p:spPr>
          <a:xfrm>
            <a:off x="911103" y="3421261"/>
            <a:ext cx="2263322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 Capacity</a:t>
            </a:r>
            <a:endParaRPr dirty="0" sz="1600" lang="en-US"/>
          </a:p>
        </p:txBody>
      </p:sp>
      <p:sp>
        <p:nvSpPr>
          <p:cNvPr id="1048608" name="Text 7"/>
          <p:cNvSpPr/>
          <p:nvPr/>
        </p:nvSpPr>
        <p:spPr>
          <a:xfrm>
            <a:off x="911103" y="3845024"/>
            <a:ext cx="2263322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MW AC (6–6.5 MWp DC)</a:t>
            </a:r>
            <a:endParaRPr dirty="0" sz="1300" lang="en-US"/>
          </a:p>
        </p:txBody>
      </p:sp>
      <p:pic>
        <p:nvPicPr>
          <p:cNvPr id="209715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62042" y="3402211"/>
            <a:ext cx="2485864" cy="726480"/>
          </a:xfrm>
          <a:prstGeom prst="rect"/>
        </p:spPr>
      </p:pic>
      <p:sp>
        <p:nvSpPr>
          <p:cNvPr id="1048609" name="Text 8"/>
          <p:cNvSpPr/>
          <p:nvPr/>
        </p:nvSpPr>
        <p:spPr>
          <a:xfrm>
            <a:off x="3584485" y="3421261"/>
            <a:ext cx="2263421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Land Requirement</a:t>
            </a:r>
            <a:endParaRPr dirty="0" sz="1600" lang="en-US"/>
          </a:p>
        </p:txBody>
      </p:sp>
      <p:sp>
        <p:nvSpPr>
          <p:cNvPr id="1048610" name="Text 9"/>
          <p:cNvSpPr/>
          <p:nvPr/>
        </p:nvSpPr>
        <p:spPr>
          <a:xfrm>
            <a:off x="3584485" y="3845024"/>
            <a:ext cx="2263421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20–25 acres</a:t>
            </a:r>
            <a:endParaRPr dirty="0" sz="1300" lang="en-US"/>
          </a:p>
        </p:txBody>
      </p:sp>
      <p:pic>
        <p:nvPicPr>
          <p:cNvPr id="209715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88660" y="4421287"/>
            <a:ext cx="2485764" cy="991096"/>
          </a:xfrm>
          <a:prstGeom prst="rect"/>
        </p:spPr>
      </p:pic>
      <p:sp>
        <p:nvSpPr>
          <p:cNvPr id="1048611" name="Text 10"/>
          <p:cNvSpPr/>
          <p:nvPr/>
        </p:nvSpPr>
        <p:spPr>
          <a:xfrm>
            <a:off x="911103" y="4440337"/>
            <a:ext cx="2263322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Life</a:t>
            </a:r>
            <a:endParaRPr dirty="0" sz="1600" lang="en-US"/>
          </a:p>
        </p:txBody>
      </p:sp>
      <p:sp>
        <p:nvSpPr>
          <p:cNvPr id="1048612" name="Text 11"/>
          <p:cNvSpPr/>
          <p:nvPr/>
        </p:nvSpPr>
        <p:spPr>
          <a:xfrm>
            <a:off x="911103" y="4864100"/>
            <a:ext cx="2263322" cy="2646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25+ years</a:t>
            </a:r>
            <a:endParaRPr dirty="0" sz="1300" lang="en-US"/>
          </a:p>
        </p:txBody>
      </p:sp>
      <p:pic>
        <p:nvPicPr>
          <p:cNvPr id="209715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62042" y="4421287"/>
            <a:ext cx="2485864" cy="991096"/>
          </a:xfrm>
          <a:prstGeom prst="rect"/>
        </p:spPr>
      </p:pic>
      <p:sp>
        <p:nvSpPr>
          <p:cNvPr id="1048613" name="Text 12"/>
          <p:cNvSpPr/>
          <p:nvPr/>
        </p:nvSpPr>
        <p:spPr>
          <a:xfrm>
            <a:off x="3584485" y="4440337"/>
            <a:ext cx="2263421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Generation</a:t>
            </a:r>
            <a:endParaRPr dirty="0" sz="1600" lang="en-US"/>
          </a:p>
        </p:txBody>
      </p:sp>
      <p:sp>
        <p:nvSpPr>
          <p:cNvPr id="1048614" name="Text 13"/>
          <p:cNvSpPr/>
          <p:nvPr/>
        </p:nvSpPr>
        <p:spPr>
          <a:xfrm>
            <a:off x="3584485" y="4864100"/>
            <a:ext cx="2263421" cy="52923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8–9 million units (base: 8.5 MU)</a:t>
            </a:r>
            <a:endParaRPr dirty="0" sz="1300" lang="en-US"/>
          </a:p>
        </p:txBody>
      </p:sp>
      <p:sp>
        <p:nvSpPr>
          <p:cNvPr id="1048615" name="Text 14"/>
          <p:cNvSpPr/>
          <p:nvPr/>
        </p:nvSpPr>
        <p:spPr>
          <a:xfrm>
            <a:off x="6303904" y="2976761"/>
            <a:ext cx="5232666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Capital Structure</a:t>
            </a:r>
            <a:endParaRPr dirty="0" sz="1600" lang="en-US"/>
          </a:p>
        </p:txBody>
      </p:sp>
      <p:pic>
        <p:nvPicPr>
          <p:cNvPr id="2097157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84854" y="3402211"/>
            <a:ext cx="2531999" cy="991096"/>
          </a:xfrm>
          <a:prstGeom prst="rect"/>
        </p:spPr>
      </p:pic>
      <p:sp>
        <p:nvSpPr>
          <p:cNvPr id="1048616" name="Text 15"/>
          <p:cNvSpPr/>
          <p:nvPr/>
        </p:nvSpPr>
        <p:spPr>
          <a:xfrm>
            <a:off x="6507297" y="3421261"/>
            <a:ext cx="2309556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Project Cost</a:t>
            </a:r>
            <a:endParaRPr dirty="0" sz="1600" lang="en-US"/>
          </a:p>
        </p:txBody>
      </p:sp>
      <p:sp>
        <p:nvSpPr>
          <p:cNvPr id="1048617" name="Text 16"/>
          <p:cNvSpPr/>
          <p:nvPr/>
        </p:nvSpPr>
        <p:spPr>
          <a:xfrm>
            <a:off x="6507297" y="3845024"/>
            <a:ext cx="2309556" cy="52923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₹20–22 Crore (base case: ₹21 Cr)</a:t>
            </a:r>
            <a:endParaRPr dirty="0" sz="1300" lang="en-US"/>
          </a:p>
        </p:txBody>
      </p:sp>
      <p:pic>
        <p:nvPicPr>
          <p:cNvPr id="2097158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9004472" y="3402211"/>
            <a:ext cx="2532098" cy="991096"/>
          </a:xfrm>
          <a:prstGeom prst="rect"/>
        </p:spPr>
      </p:pic>
      <p:sp>
        <p:nvSpPr>
          <p:cNvPr id="1048618" name="Text 17"/>
          <p:cNvSpPr/>
          <p:nvPr/>
        </p:nvSpPr>
        <p:spPr>
          <a:xfrm>
            <a:off x="9226914" y="3421261"/>
            <a:ext cx="2309656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Owner's Equity</a:t>
            </a:r>
            <a:endParaRPr dirty="0" sz="1600" lang="en-US"/>
          </a:p>
        </p:txBody>
      </p:sp>
      <p:sp>
        <p:nvSpPr>
          <p:cNvPr id="1048619" name="Text 18"/>
          <p:cNvSpPr/>
          <p:nvPr/>
        </p:nvSpPr>
        <p:spPr>
          <a:xfrm>
            <a:off x="9226914" y="3845024"/>
            <a:ext cx="2309656" cy="52923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₹6–7 Crore (promoter contribution)</a:t>
            </a:r>
            <a:endParaRPr dirty="0" sz="1300" lang="en-US"/>
          </a:p>
        </p:txBody>
      </p:sp>
      <p:pic>
        <p:nvPicPr>
          <p:cNvPr id="2097159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84854" y="4685903"/>
            <a:ext cx="2531999" cy="991096"/>
          </a:xfrm>
          <a:prstGeom prst="rect"/>
        </p:spPr>
      </p:pic>
      <p:sp>
        <p:nvSpPr>
          <p:cNvPr id="1048620" name="Text 19"/>
          <p:cNvSpPr/>
          <p:nvPr/>
        </p:nvSpPr>
        <p:spPr>
          <a:xfrm>
            <a:off x="6507297" y="4704953"/>
            <a:ext cx="2309556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Debt</a:t>
            </a:r>
            <a:endParaRPr dirty="0" sz="1600" lang="en-US"/>
          </a:p>
        </p:txBody>
      </p:sp>
      <p:sp>
        <p:nvSpPr>
          <p:cNvPr id="1048621" name="Text 20"/>
          <p:cNvSpPr/>
          <p:nvPr/>
        </p:nvSpPr>
        <p:spPr>
          <a:xfrm>
            <a:off x="6507297" y="5128716"/>
            <a:ext cx="2309556" cy="52923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~₹14 Crore (subject to bank appraisal)</a:t>
            </a:r>
            <a:endParaRPr dirty="0" sz="1300" lang="en-US"/>
          </a:p>
        </p:txBody>
      </p:sp>
      <p:pic>
        <p:nvPicPr>
          <p:cNvPr id="2097160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9004472" y="4685903"/>
            <a:ext cx="2532098" cy="991096"/>
          </a:xfrm>
          <a:prstGeom prst="rect"/>
        </p:spPr>
      </p:pic>
      <p:sp>
        <p:nvSpPr>
          <p:cNvPr id="1048622" name="Text 21"/>
          <p:cNvSpPr/>
          <p:nvPr/>
        </p:nvSpPr>
        <p:spPr>
          <a:xfrm>
            <a:off x="9226914" y="4704953"/>
            <a:ext cx="2309656" cy="2584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Models</a:t>
            </a:r>
            <a:endParaRPr dirty="0" sz="1600" lang="en-US"/>
          </a:p>
        </p:txBody>
      </p:sp>
      <p:sp>
        <p:nvSpPr>
          <p:cNvPr id="1048623" name="Text 22"/>
          <p:cNvSpPr/>
          <p:nvPr/>
        </p:nvSpPr>
        <p:spPr>
          <a:xfrm>
            <a:off x="9226914" y="5128716"/>
            <a:ext cx="2309656" cy="52923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Captive / Group Captive / Open Access / PPA</a:t>
            </a:r>
            <a:endParaRPr dirty="0" sz="13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Shape 0"/>
          <p:cNvSpPr/>
          <p:nvPr/>
        </p:nvSpPr>
        <p:spPr>
          <a:xfrm>
            <a:off x="661475" y="654050"/>
            <a:ext cx="1471576" cy="213717"/>
          </a:xfrm>
          <a:prstGeom prst="roundRect">
            <a:avLst>
              <a:gd name="adj" fmla="val 22102"/>
            </a:avLst>
          </a:prstGeom>
          <a:solidFill>
            <a:srgbClr val="E1E1EA"/>
          </a:solidFill>
        </p:spPr>
      </p:sp>
      <p:sp>
        <p:nvSpPr>
          <p:cNvPr id="1048628" name="Text 1"/>
          <p:cNvSpPr/>
          <p:nvPr/>
        </p:nvSpPr>
        <p:spPr>
          <a:xfrm>
            <a:off x="745809" y="696218"/>
            <a:ext cx="1912493" cy="12938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8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INVESTMENT RATIONALE</a:t>
            </a:r>
            <a:endParaRPr dirty="0" sz="850" lang="en-US"/>
          </a:p>
        </p:txBody>
      </p:sp>
      <p:sp>
        <p:nvSpPr>
          <p:cNvPr id="1048629" name="Text 2"/>
          <p:cNvSpPr/>
          <p:nvPr/>
        </p:nvSpPr>
        <p:spPr>
          <a:xfrm>
            <a:off x="661475" y="915491"/>
            <a:ext cx="10868745" cy="439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27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Solar? Why Now?</a:t>
            </a:r>
            <a:endParaRPr dirty="0" sz="2750" lang="en-US"/>
          </a:p>
        </p:txBody>
      </p:sp>
      <p:sp>
        <p:nvSpPr>
          <p:cNvPr id="1048630" name="Text 3"/>
          <p:cNvSpPr/>
          <p:nvPr/>
        </p:nvSpPr>
        <p:spPr>
          <a:xfrm>
            <a:off x="661475" y="1641376"/>
            <a:ext cx="5262927" cy="832247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Solar power is a proven, mature technology that has been commercially deployed for over three decades. Unlike conventional businesses, a solar plant has no fuel purchase requirement, minimal variable costs, and highly predictable generation profiles. The investment case rests on infrastructure logic, not speculative demand.</a:t>
            </a:r>
            <a:endParaRPr dirty="0" sz="1100" lang="en-US"/>
          </a:p>
        </p:txBody>
      </p:sp>
      <p:pic>
        <p:nvPicPr>
          <p:cNvPr id="209716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61475" y="2607965"/>
            <a:ext cx="5262927" cy="1074241"/>
          </a:xfrm>
          <a:prstGeom prst="rect"/>
        </p:spPr>
      </p:pic>
      <p:sp>
        <p:nvSpPr>
          <p:cNvPr id="1048631" name="Text 4"/>
          <p:cNvSpPr/>
          <p:nvPr/>
        </p:nvSpPr>
        <p:spPr>
          <a:xfrm>
            <a:off x="897213" y="2767509"/>
            <a:ext cx="4867649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Fuel Cost</a:t>
            </a:r>
            <a:endParaRPr dirty="0" sz="1350" lang="en-US"/>
          </a:p>
        </p:txBody>
      </p:sp>
      <p:sp>
        <p:nvSpPr>
          <p:cNvPr id="1048632" name="Text 5"/>
          <p:cNvSpPr/>
          <p:nvPr/>
        </p:nvSpPr>
        <p:spPr>
          <a:xfrm>
            <a:off x="897213" y="3106539"/>
            <a:ext cx="4867649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Sunlight is free. Operating costs are dominated by O&amp;M and financing — both controllable and predictable.</a:t>
            </a:r>
            <a:endParaRPr dirty="0" sz="1100" lang="en-US"/>
          </a:p>
        </p:txBody>
      </p:sp>
      <p:pic>
        <p:nvPicPr>
          <p:cNvPr id="209716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61475" y="3801666"/>
            <a:ext cx="5262927" cy="1074241"/>
          </a:xfrm>
          <a:prstGeom prst="rect"/>
        </p:spPr>
      </p:pic>
      <p:sp>
        <p:nvSpPr>
          <p:cNvPr id="1048633" name="Text 6"/>
          <p:cNvSpPr/>
          <p:nvPr/>
        </p:nvSpPr>
        <p:spPr>
          <a:xfrm>
            <a:off x="897213" y="3961209"/>
            <a:ext cx="4867649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25+ Year Asset Life</a:t>
            </a:r>
            <a:endParaRPr dirty="0" sz="1350" lang="en-US"/>
          </a:p>
        </p:txBody>
      </p:sp>
      <p:sp>
        <p:nvSpPr>
          <p:cNvPr id="1048634" name="Text 7"/>
          <p:cNvSpPr/>
          <p:nvPr/>
        </p:nvSpPr>
        <p:spPr>
          <a:xfrm>
            <a:off x="897213" y="4300240"/>
            <a:ext cx="4867649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solar modules carry 25–30 year linear performance warranties. The infrastructure outlasts most conventional businesses.</a:t>
            </a:r>
            <a:endParaRPr dirty="0" sz="1100" lang="en-US"/>
          </a:p>
        </p:txBody>
      </p:sp>
      <p:pic>
        <p:nvPicPr>
          <p:cNvPr id="2097163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61475" y="4995366"/>
            <a:ext cx="5262927" cy="1074241"/>
          </a:xfrm>
          <a:prstGeom prst="rect"/>
        </p:spPr>
      </p:pic>
      <p:sp>
        <p:nvSpPr>
          <p:cNvPr id="1048635" name="Text 8"/>
          <p:cNvSpPr/>
          <p:nvPr/>
        </p:nvSpPr>
        <p:spPr>
          <a:xfrm>
            <a:off x="897213" y="5154910"/>
            <a:ext cx="4867649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Operating Overhead</a:t>
            </a:r>
            <a:endParaRPr dirty="0" sz="1350" lang="en-US"/>
          </a:p>
        </p:txBody>
      </p:sp>
      <p:sp>
        <p:nvSpPr>
          <p:cNvPr id="1048636" name="Text 9"/>
          <p:cNvSpPr/>
          <p:nvPr/>
        </p:nvSpPr>
        <p:spPr>
          <a:xfrm>
            <a:off x="897213" y="5493941"/>
            <a:ext cx="4867649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O&amp;M contracts keep running costs minimal. No large workforce, no raw material procurement.</a:t>
            </a:r>
            <a:endParaRPr dirty="0" sz="1100" lang="en-US"/>
          </a:p>
        </p:txBody>
      </p:sp>
      <p:pic>
        <p:nvPicPr>
          <p:cNvPr id="2097164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73643" y="1668264"/>
            <a:ext cx="5262927" cy="1074241"/>
          </a:xfrm>
          <a:prstGeom prst="rect"/>
        </p:spPr>
      </p:pic>
      <p:sp>
        <p:nvSpPr>
          <p:cNvPr id="1048637" name="Text 10"/>
          <p:cNvSpPr/>
          <p:nvPr/>
        </p:nvSpPr>
        <p:spPr>
          <a:xfrm>
            <a:off x="6509381" y="1827808"/>
            <a:ext cx="4867649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Monetisation Paths</a:t>
            </a:r>
            <a:endParaRPr dirty="0" sz="1350" lang="en-US"/>
          </a:p>
        </p:txBody>
      </p:sp>
      <p:sp>
        <p:nvSpPr>
          <p:cNvPr id="1048638" name="Text 11"/>
          <p:cNvSpPr/>
          <p:nvPr/>
        </p:nvSpPr>
        <p:spPr>
          <a:xfrm>
            <a:off x="6509381" y="2166838"/>
            <a:ext cx="4867649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Captive, Group Captive, Open Access, and long-term PPA models provide flexibility to optimise returns based on market conditions.</a:t>
            </a:r>
            <a:endParaRPr dirty="0" sz="1100" lang="en-US"/>
          </a:p>
        </p:txBody>
      </p:sp>
      <p:pic>
        <p:nvPicPr>
          <p:cNvPr id="2097165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73643" y="2861965"/>
            <a:ext cx="5262927" cy="1074241"/>
          </a:xfrm>
          <a:prstGeom prst="rect"/>
        </p:spPr>
      </p:pic>
      <p:sp>
        <p:nvSpPr>
          <p:cNvPr id="1048639" name="Text 12"/>
          <p:cNvSpPr/>
          <p:nvPr/>
        </p:nvSpPr>
        <p:spPr>
          <a:xfrm>
            <a:off x="6509381" y="3021509"/>
            <a:ext cx="4867649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Rising Industrial Demand</a:t>
            </a:r>
            <a:endParaRPr dirty="0" sz="1350" lang="en-US"/>
          </a:p>
        </p:txBody>
      </p:sp>
      <p:sp>
        <p:nvSpPr>
          <p:cNvPr id="1048640" name="Text 13"/>
          <p:cNvSpPr/>
          <p:nvPr/>
        </p:nvSpPr>
        <p:spPr>
          <a:xfrm>
            <a:off x="6509381" y="3360539"/>
            <a:ext cx="4867649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consumers face rising grid tariffs. Renewable electricity is increasingly their lowest-cost option — creating durable offtake demand.</a:t>
            </a:r>
            <a:endParaRPr dirty="0" sz="1100" lang="en-US"/>
          </a:p>
        </p:txBody>
      </p:sp>
      <p:pic>
        <p:nvPicPr>
          <p:cNvPr id="2097166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73643" y="4055666"/>
            <a:ext cx="5262927" cy="1074241"/>
          </a:xfrm>
          <a:prstGeom prst="rect"/>
        </p:spPr>
      </p:pic>
      <p:sp>
        <p:nvSpPr>
          <p:cNvPr id="1048641" name="Text 14"/>
          <p:cNvSpPr/>
          <p:nvPr/>
        </p:nvSpPr>
        <p:spPr>
          <a:xfrm>
            <a:off x="6509381" y="4215209"/>
            <a:ext cx="4867649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Strong Post-Debt Cash Flow</a:t>
            </a:r>
            <a:endParaRPr dirty="0" sz="1350" lang="en-US"/>
          </a:p>
        </p:txBody>
      </p:sp>
      <p:sp>
        <p:nvSpPr>
          <p:cNvPr id="1048642" name="Text 15"/>
          <p:cNvSpPr/>
          <p:nvPr/>
        </p:nvSpPr>
        <p:spPr>
          <a:xfrm>
            <a:off x="6509381" y="4554240"/>
            <a:ext cx="4867649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the ~12-year loan repayment period, the asset generates near-pure free cash flow for the remaining 13+ years of its operating life.</a:t>
            </a:r>
            <a:endParaRPr dirty="0" sz="1100" lang="en-US"/>
          </a:p>
        </p:txBody>
      </p:sp>
      <p:sp>
        <p:nvSpPr>
          <p:cNvPr id="1048643" name="Shape 16"/>
          <p:cNvSpPr/>
          <p:nvPr/>
        </p:nvSpPr>
        <p:spPr>
          <a:xfrm>
            <a:off x="6273643" y="5264249"/>
            <a:ext cx="5262927" cy="701278"/>
          </a:xfrm>
          <a:prstGeom prst="roundRect">
            <a:avLst>
              <a:gd name="adj" fmla="val 8420"/>
            </a:avLst>
          </a:prstGeom>
          <a:solidFill>
            <a:srgbClr val="E1E1EA"/>
          </a:solidFill>
        </p:spPr>
      </p:sp>
      <p:pic>
        <p:nvPicPr>
          <p:cNvPr id="2097167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14133" y="5448300"/>
            <a:ext cx="175712" cy="140494"/>
          </a:xfrm>
          <a:prstGeom prst="rect"/>
        </p:spPr>
      </p:pic>
      <p:sp>
        <p:nvSpPr>
          <p:cNvPr id="1048644" name="Text 17"/>
          <p:cNvSpPr/>
          <p:nvPr/>
        </p:nvSpPr>
        <p:spPr>
          <a:xfrm>
            <a:off x="6730336" y="5406827"/>
            <a:ext cx="4665744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an infrastructure business with long operating life — not a conventional high-overhead enterprise.</a:t>
            </a:r>
            <a:endParaRPr dirty="0" sz="11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Shape 0"/>
          <p:cNvSpPr/>
          <p:nvPr/>
        </p:nvSpPr>
        <p:spPr>
          <a:xfrm>
            <a:off x="661475" y="1243806"/>
            <a:ext cx="1469393" cy="238820"/>
          </a:xfrm>
          <a:prstGeom prst="roundRect">
            <a:avLst>
              <a:gd name="adj" fmla="val 22106"/>
            </a:avLst>
          </a:prstGeom>
          <a:solidFill>
            <a:srgbClr val="E1E1EA"/>
          </a:solidFill>
        </p:spPr>
      </p:sp>
      <p:sp>
        <p:nvSpPr>
          <p:cNvPr id="1048649" name="Text 1"/>
          <p:cNvSpPr/>
          <p:nvPr/>
        </p:nvSpPr>
        <p:spPr>
          <a:xfrm>
            <a:off x="755730" y="1290935"/>
            <a:ext cx="1890467" cy="14456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9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RATIONALE</a:t>
            </a:r>
            <a:endParaRPr dirty="0" sz="950" lang="en-US"/>
          </a:p>
        </p:txBody>
      </p:sp>
      <p:sp>
        <p:nvSpPr>
          <p:cNvPr id="1048650" name="Text 2"/>
          <p:cNvSpPr/>
          <p:nvPr/>
        </p:nvSpPr>
        <p:spPr>
          <a:xfrm>
            <a:off x="661475" y="1542256"/>
            <a:ext cx="10868745" cy="49093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30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Gujarat?</a:t>
            </a:r>
            <a:endParaRPr dirty="0" sz="3050" lang="en-US"/>
          </a:p>
        </p:txBody>
      </p:sp>
      <p:sp>
        <p:nvSpPr>
          <p:cNvPr id="1048651" name="Text 3"/>
          <p:cNvSpPr/>
          <p:nvPr/>
        </p:nvSpPr>
        <p:spPr>
          <a:xfrm>
            <a:off x="661475" y="2257028"/>
            <a:ext cx="10868745" cy="490339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0000"/>
              </a:lnSpc>
              <a:buNone/>
            </a:pPr>
            <a:r>
              <a:rPr dirty="0" sz="12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Gujarat offers one of the strongest combinations of solar resource, industrial demand, and infrastructure readiness in India. The state's renewable energy ecosystem is mature, reducing execution risk significantly.</a:t>
            </a:r>
            <a:endParaRPr dirty="0" sz="1200" lang="en-US"/>
          </a:p>
        </p:txBody>
      </p:sp>
      <p:sp>
        <p:nvSpPr>
          <p:cNvPr id="1048652" name="Shape 4"/>
          <p:cNvSpPr/>
          <p:nvPr/>
        </p:nvSpPr>
        <p:spPr>
          <a:xfrm>
            <a:off x="661475" y="2915245"/>
            <a:ext cx="5359762" cy="1397397"/>
          </a:xfrm>
          <a:prstGeom prst="roundRect">
            <a:avLst>
              <a:gd name="adj" fmla="val 472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53" name="Text 5"/>
          <p:cNvSpPr/>
          <p:nvPr/>
        </p:nvSpPr>
        <p:spPr>
          <a:xfrm>
            <a:off x="824884" y="3078659"/>
            <a:ext cx="5032944" cy="2455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Solar Resource</a:t>
            </a:r>
            <a:endParaRPr dirty="0" sz="1500" lang="en-US"/>
          </a:p>
        </p:txBody>
      </p:sp>
      <p:sp>
        <p:nvSpPr>
          <p:cNvPr id="1048654" name="Text 6"/>
          <p:cNvSpPr/>
          <p:nvPr/>
        </p:nvSpPr>
        <p:spPr>
          <a:xfrm>
            <a:off x="824884" y="3413720"/>
            <a:ext cx="5032944" cy="490339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0000"/>
              </a:lnSpc>
              <a:buNone/>
            </a:pPr>
            <a:r>
              <a:rPr dirty="0" sz="12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solar irradiation levels and clear-sky days per year ensure reliable, high-yield generation across the project's operating life.</a:t>
            </a:r>
            <a:endParaRPr dirty="0" sz="1200" lang="en-US"/>
          </a:p>
        </p:txBody>
      </p:sp>
      <p:sp>
        <p:nvSpPr>
          <p:cNvPr id="1048655" name="Shape 7"/>
          <p:cNvSpPr/>
          <p:nvPr/>
        </p:nvSpPr>
        <p:spPr>
          <a:xfrm>
            <a:off x="6170458" y="2915245"/>
            <a:ext cx="5359762" cy="1397397"/>
          </a:xfrm>
          <a:prstGeom prst="roundRect">
            <a:avLst>
              <a:gd name="adj" fmla="val 472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56" name="Text 8"/>
          <p:cNvSpPr/>
          <p:nvPr/>
        </p:nvSpPr>
        <p:spPr>
          <a:xfrm>
            <a:off x="6333867" y="3078659"/>
            <a:ext cx="5032944" cy="2455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Industrial Consumer Base</a:t>
            </a:r>
            <a:endParaRPr dirty="0" sz="1500" lang="en-US"/>
          </a:p>
        </p:txBody>
      </p:sp>
      <p:sp>
        <p:nvSpPr>
          <p:cNvPr id="1048657" name="Text 9"/>
          <p:cNvSpPr/>
          <p:nvPr/>
        </p:nvSpPr>
        <p:spPr>
          <a:xfrm>
            <a:off x="6333867" y="3413720"/>
            <a:ext cx="5032944" cy="735509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0000"/>
              </a:lnSpc>
              <a:buNone/>
            </a:pPr>
            <a:r>
              <a:rPr dirty="0" sz="12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Gujarat hosts one of India's largest concentrations of industrial electricity consumers — a ready pool of potential captive and open-access offtakers.</a:t>
            </a:r>
            <a:endParaRPr dirty="0" sz="1200" lang="en-US"/>
          </a:p>
        </p:txBody>
      </p:sp>
      <p:sp>
        <p:nvSpPr>
          <p:cNvPr id="1048658" name="Shape 10"/>
          <p:cNvSpPr/>
          <p:nvPr/>
        </p:nvSpPr>
        <p:spPr>
          <a:xfrm>
            <a:off x="661475" y="4461867"/>
            <a:ext cx="5359762" cy="1152227"/>
          </a:xfrm>
          <a:prstGeom prst="roundRect">
            <a:avLst>
              <a:gd name="adj" fmla="val 57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59" name="Text 11"/>
          <p:cNvSpPr/>
          <p:nvPr/>
        </p:nvSpPr>
        <p:spPr>
          <a:xfrm>
            <a:off x="824884" y="4625280"/>
            <a:ext cx="5032944" cy="2455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Transmission Infrastructure</a:t>
            </a:r>
            <a:endParaRPr dirty="0" sz="1500" lang="en-US"/>
          </a:p>
        </p:txBody>
      </p:sp>
      <p:sp>
        <p:nvSpPr>
          <p:cNvPr id="1048660" name="Text 12"/>
          <p:cNvSpPr/>
          <p:nvPr/>
        </p:nvSpPr>
        <p:spPr>
          <a:xfrm>
            <a:off x="824884" y="4960342"/>
            <a:ext cx="5032944" cy="490339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0000"/>
              </a:lnSpc>
              <a:buNone/>
            </a:pPr>
            <a:r>
              <a:rPr dirty="0" sz="12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high-tension transmission networks reduce grid evacuation risk and capital cost for new renewable projects.</a:t>
            </a:r>
            <a:endParaRPr dirty="0" sz="1200" lang="en-US"/>
          </a:p>
        </p:txBody>
      </p:sp>
      <p:sp>
        <p:nvSpPr>
          <p:cNvPr id="1048661" name="Shape 13"/>
          <p:cNvSpPr/>
          <p:nvPr/>
        </p:nvSpPr>
        <p:spPr>
          <a:xfrm>
            <a:off x="6170458" y="4461867"/>
            <a:ext cx="5359762" cy="1152227"/>
          </a:xfrm>
          <a:prstGeom prst="roundRect">
            <a:avLst>
              <a:gd name="adj" fmla="val 57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662" name="Text 14"/>
          <p:cNvSpPr/>
          <p:nvPr/>
        </p:nvSpPr>
        <p:spPr>
          <a:xfrm>
            <a:off x="6333867" y="4625280"/>
            <a:ext cx="5032944" cy="2455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Renewable Ecosystem</a:t>
            </a:r>
            <a:endParaRPr dirty="0" sz="1500" lang="en-US"/>
          </a:p>
        </p:txBody>
      </p:sp>
      <p:sp>
        <p:nvSpPr>
          <p:cNvPr id="1048663" name="Text 15"/>
          <p:cNvSpPr/>
          <p:nvPr/>
        </p:nvSpPr>
        <p:spPr>
          <a:xfrm>
            <a:off x="6333867" y="4960342"/>
            <a:ext cx="5032944" cy="490339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0000"/>
              </a:lnSpc>
              <a:buNone/>
            </a:pPr>
            <a:r>
              <a:rPr dirty="0" sz="12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Established EPC contractors, O&amp;M providers, financial institutions, and regulatory frameworks are all in place for smooth project execution.</a:t>
            </a:r>
            <a:endParaRPr dirty="0" sz="12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Shape 0"/>
          <p:cNvSpPr/>
          <p:nvPr/>
        </p:nvSpPr>
        <p:spPr>
          <a:xfrm>
            <a:off x="661475" y="582613"/>
            <a:ext cx="1306281" cy="226219"/>
          </a:xfrm>
          <a:prstGeom prst="roundRect">
            <a:avLst>
              <a:gd name="adj" fmla="val 22109"/>
            </a:avLst>
          </a:prstGeom>
          <a:solidFill>
            <a:srgbClr val="E1E1EA"/>
          </a:solidFill>
        </p:spPr>
      </p:sp>
      <p:sp>
        <p:nvSpPr>
          <p:cNvPr id="1048668" name="Text 1"/>
          <p:cNvSpPr/>
          <p:nvPr/>
        </p:nvSpPr>
        <p:spPr>
          <a:xfrm>
            <a:off x="750769" y="627261"/>
            <a:ext cx="1737277" cy="13692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9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PROFILE</a:t>
            </a:r>
            <a:endParaRPr dirty="0" sz="900" lang="en-US"/>
          </a:p>
        </p:txBody>
      </p:sp>
      <p:sp>
        <p:nvSpPr>
          <p:cNvPr id="1048669" name="Text 2"/>
          <p:cNvSpPr/>
          <p:nvPr/>
        </p:nvSpPr>
        <p:spPr>
          <a:xfrm>
            <a:off x="661475" y="862409"/>
            <a:ext cx="10868745" cy="46513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29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5 MW Solar Plant — Technical Overview</a:t>
            </a:r>
            <a:endParaRPr dirty="0" sz="2900" lang="en-US"/>
          </a:p>
        </p:txBody>
      </p:sp>
      <p:sp>
        <p:nvSpPr>
          <p:cNvPr id="1048670" name="Text 3"/>
          <p:cNvSpPr/>
          <p:nvPr/>
        </p:nvSpPr>
        <p:spPr>
          <a:xfrm>
            <a:off x="661475" y="1662410"/>
            <a:ext cx="5252807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 Configuration</a:t>
            </a:r>
            <a:endParaRPr dirty="0" sz="1450" lang="en-US"/>
          </a:p>
        </p:txBody>
      </p:sp>
      <p:pic>
        <p:nvPicPr>
          <p:cNvPr id="209716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42425" y="2026543"/>
            <a:ext cx="2561764" cy="856952"/>
          </a:xfrm>
          <a:prstGeom prst="rect"/>
        </p:spPr>
      </p:pic>
      <p:sp>
        <p:nvSpPr>
          <p:cNvPr id="1048671" name="Text 4"/>
          <p:cNvSpPr/>
          <p:nvPr/>
        </p:nvSpPr>
        <p:spPr>
          <a:xfrm>
            <a:off x="848398" y="2045593"/>
            <a:ext cx="2355791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 Capacity</a:t>
            </a:r>
            <a:endParaRPr dirty="0" sz="1450" lang="en-US"/>
          </a:p>
        </p:txBody>
      </p:sp>
      <p:sp>
        <p:nvSpPr>
          <p:cNvPr id="1048672" name="Text 5"/>
          <p:cNvSpPr/>
          <p:nvPr/>
        </p:nvSpPr>
        <p:spPr>
          <a:xfrm>
            <a:off x="848398" y="2412008"/>
            <a:ext cx="2355791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MW — the rated grid injection capacity of the plant</a:t>
            </a:r>
            <a:endParaRPr dirty="0" sz="1150" lang="en-US"/>
          </a:p>
        </p:txBody>
      </p:sp>
      <p:pic>
        <p:nvPicPr>
          <p:cNvPr id="209716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52518" y="2026543"/>
            <a:ext cx="2561764" cy="856952"/>
          </a:xfrm>
          <a:prstGeom prst="rect"/>
        </p:spPr>
      </p:pic>
      <p:sp>
        <p:nvSpPr>
          <p:cNvPr id="1048673" name="Text 6"/>
          <p:cNvSpPr/>
          <p:nvPr/>
        </p:nvSpPr>
        <p:spPr>
          <a:xfrm>
            <a:off x="3558491" y="2045593"/>
            <a:ext cx="2355791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DC Capacity</a:t>
            </a:r>
            <a:endParaRPr dirty="0" sz="1450" lang="en-US"/>
          </a:p>
        </p:txBody>
      </p:sp>
      <p:sp>
        <p:nvSpPr>
          <p:cNvPr id="1048674" name="Text 7"/>
          <p:cNvSpPr/>
          <p:nvPr/>
        </p:nvSpPr>
        <p:spPr>
          <a:xfrm>
            <a:off x="3558491" y="2412008"/>
            <a:ext cx="2355791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~6–6.5 MWp — oversized DC array to maximise generation hours</a:t>
            </a:r>
            <a:endParaRPr dirty="0" sz="1150" lang="en-US"/>
          </a:p>
        </p:txBody>
      </p:sp>
      <p:pic>
        <p:nvPicPr>
          <p:cNvPr id="209717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42425" y="3113286"/>
            <a:ext cx="2561764" cy="1083171"/>
          </a:xfrm>
          <a:prstGeom prst="rect"/>
        </p:spPr>
      </p:pic>
      <p:sp>
        <p:nvSpPr>
          <p:cNvPr id="1048675" name="Text 8"/>
          <p:cNvSpPr/>
          <p:nvPr/>
        </p:nvSpPr>
        <p:spPr>
          <a:xfrm>
            <a:off x="848398" y="3132336"/>
            <a:ext cx="2355791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Technology</a:t>
            </a:r>
            <a:endParaRPr dirty="0" sz="1450" lang="en-US"/>
          </a:p>
        </p:txBody>
      </p:sp>
      <p:sp>
        <p:nvSpPr>
          <p:cNvPr id="1048676" name="Text 9"/>
          <p:cNvSpPr/>
          <p:nvPr/>
        </p:nvSpPr>
        <p:spPr>
          <a:xfrm>
            <a:off x="848398" y="3498751"/>
            <a:ext cx="2355791" cy="67865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N-Type TOPCon or equivalent — current generation, higher efficiency</a:t>
            </a:r>
            <a:endParaRPr dirty="0" sz="1150" lang="en-US"/>
          </a:p>
        </p:txBody>
      </p:sp>
      <p:pic>
        <p:nvPicPr>
          <p:cNvPr id="2097171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52518" y="3113286"/>
            <a:ext cx="2561764" cy="1083171"/>
          </a:xfrm>
          <a:prstGeom prst="rect"/>
        </p:spPr>
      </p:pic>
      <p:sp>
        <p:nvSpPr>
          <p:cNvPr id="1048677" name="Text 10"/>
          <p:cNvSpPr/>
          <p:nvPr/>
        </p:nvSpPr>
        <p:spPr>
          <a:xfrm>
            <a:off x="3558491" y="3132336"/>
            <a:ext cx="2355791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Land Requirement</a:t>
            </a:r>
            <a:endParaRPr dirty="0" sz="1450" lang="en-US"/>
          </a:p>
        </p:txBody>
      </p:sp>
      <p:sp>
        <p:nvSpPr>
          <p:cNvPr id="1048678" name="Text 11"/>
          <p:cNvSpPr/>
          <p:nvPr/>
        </p:nvSpPr>
        <p:spPr>
          <a:xfrm>
            <a:off x="3558491" y="3498751"/>
            <a:ext cx="2355791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~20–25 acres of flat, unobstructed land in Gujarat</a:t>
            </a:r>
            <a:endParaRPr dirty="0" sz="1150" lang="en-US"/>
          </a:p>
        </p:txBody>
      </p:sp>
      <p:pic>
        <p:nvPicPr>
          <p:cNvPr id="2097172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42425" y="4426248"/>
            <a:ext cx="2561764" cy="856952"/>
          </a:xfrm>
          <a:prstGeom prst="rect"/>
        </p:spPr>
      </p:pic>
      <p:sp>
        <p:nvSpPr>
          <p:cNvPr id="1048679" name="Text 12"/>
          <p:cNvSpPr/>
          <p:nvPr/>
        </p:nvSpPr>
        <p:spPr>
          <a:xfrm>
            <a:off x="848398" y="4445298"/>
            <a:ext cx="2355791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Generation</a:t>
            </a:r>
            <a:endParaRPr dirty="0" sz="1450" lang="en-US"/>
          </a:p>
        </p:txBody>
      </p:sp>
      <p:sp>
        <p:nvSpPr>
          <p:cNvPr id="1048680" name="Text 13"/>
          <p:cNvSpPr/>
          <p:nvPr/>
        </p:nvSpPr>
        <p:spPr>
          <a:xfrm>
            <a:off x="848398" y="4811713"/>
            <a:ext cx="2355791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~8–9 MU per year (base case: 8.5 MU)</a:t>
            </a:r>
            <a:endParaRPr dirty="0" sz="1150" lang="en-US"/>
          </a:p>
        </p:txBody>
      </p:sp>
      <p:pic>
        <p:nvPicPr>
          <p:cNvPr id="2097173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52518" y="4426248"/>
            <a:ext cx="2561764" cy="856952"/>
          </a:xfrm>
          <a:prstGeom prst="rect"/>
        </p:spPr>
      </p:pic>
      <p:sp>
        <p:nvSpPr>
          <p:cNvPr id="1048681" name="Text 14"/>
          <p:cNvSpPr/>
          <p:nvPr/>
        </p:nvSpPr>
        <p:spPr>
          <a:xfrm>
            <a:off x="3558491" y="4445298"/>
            <a:ext cx="2355791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 Connection</a:t>
            </a:r>
            <a:endParaRPr dirty="0" sz="1450" lang="en-US"/>
          </a:p>
        </p:txBody>
      </p:sp>
      <p:sp>
        <p:nvSpPr>
          <p:cNvPr id="1048682" name="Text 15"/>
          <p:cNvSpPr/>
          <p:nvPr/>
        </p:nvSpPr>
        <p:spPr>
          <a:xfrm>
            <a:off x="3558491" y="4811713"/>
            <a:ext cx="2355791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 evacuation with SCADA and remote monitoring capability</a:t>
            </a:r>
            <a:endParaRPr dirty="0" sz="1150" lang="en-US"/>
          </a:p>
        </p:txBody>
      </p:sp>
      <p:pic>
        <p:nvPicPr>
          <p:cNvPr id="2097174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42425" y="5512991"/>
            <a:ext cx="5271856" cy="630734"/>
          </a:xfrm>
          <a:prstGeom prst="rect"/>
        </p:spPr>
      </p:pic>
      <p:sp>
        <p:nvSpPr>
          <p:cNvPr id="1048683" name="Text 16"/>
          <p:cNvSpPr/>
          <p:nvPr/>
        </p:nvSpPr>
        <p:spPr>
          <a:xfrm>
            <a:off x="848398" y="5532041"/>
            <a:ext cx="5065883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O&amp;M Model</a:t>
            </a:r>
            <a:endParaRPr dirty="0" sz="1450" lang="en-US"/>
          </a:p>
        </p:txBody>
      </p:sp>
      <p:sp>
        <p:nvSpPr>
          <p:cNvPr id="1048684" name="Text 17"/>
          <p:cNvSpPr/>
          <p:nvPr/>
        </p:nvSpPr>
        <p:spPr>
          <a:xfrm>
            <a:off x="848398" y="5898455"/>
            <a:ext cx="5065883" cy="22621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contract — AMC with performance guarantees</a:t>
            </a:r>
            <a:endParaRPr dirty="0" sz="1150" lang="en-US"/>
          </a:p>
        </p:txBody>
      </p:sp>
      <p:sp>
        <p:nvSpPr>
          <p:cNvPr id="1048685" name="Text 18"/>
          <p:cNvSpPr/>
          <p:nvPr/>
        </p:nvSpPr>
        <p:spPr>
          <a:xfrm>
            <a:off x="6283763" y="1662410"/>
            <a:ext cx="5252807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Generation Process</a:t>
            </a:r>
            <a:endParaRPr dirty="0" sz="1450" lang="en-US"/>
          </a:p>
        </p:txBody>
      </p:sp>
      <p:pic>
        <p:nvPicPr>
          <p:cNvPr id="2097175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546389" y="2045593"/>
            <a:ext cx="4727457" cy="2163663"/>
          </a:xfrm>
          <a:prstGeom prst="rect"/>
        </p:spPr>
      </p:pic>
      <p:sp>
        <p:nvSpPr>
          <p:cNvPr id="1048686" name="Text 19"/>
          <p:cNvSpPr/>
          <p:nvPr/>
        </p:nvSpPr>
        <p:spPr>
          <a:xfrm>
            <a:off x="10166228" y="3695454"/>
            <a:ext cx="887548" cy="17097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0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 Delivery</a:t>
            </a:r>
            <a:endParaRPr dirty="0" sz="1050" lang="en-US"/>
          </a:p>
        </p:txBody>
      </p:sp>
      <p:sp>
        <p:nvSpPr>
          <p:cNvPr id="1048687" name="Text 20"/>
          <p:cNvSpPr/>
          <p:nvPr/>
        </p:nvSpPr>
        <p:spPr>
          <a:xfrm>
            <a:off x="9047675" y="3695454"/>
            <a:ext cx="887548" cy="17097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0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</a:t>
            </a:r>
            <a:endParaRPr dirty="0" sz="1050" lang="en-US"/>
          </a:p>
        </p:txBody>
      </p:sp>
      <p:sp>
        <p:nvSpPr>
          <p:cNvPr id="1048688" name="Text 21"/>
          <p:cNvSpPr/>
          <p:nvPr/>
        </p:nvSpPr>
        <p:spPr>
          <a:xfrm>
            <a:off x="7935200" y="3695454"/>
            <a:ext cx="887548" cy="17097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ct val="104000"/>
              </a:lnSpc>
              <a:buNone/>
            </a:pPr>
            <a:r>
              <a:rPr dirty="0" sz="10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Inverters</a:t>
            </a:r>
            <a:endParaRPr dirty="0" sz="1050" lang="en-US"/>
          </a:p>
        </p:txBody>
      </p:sp>
      <p:sp>
        <p:nvSpPr>
          <p:cNvPr id="1048689" name="Text 22"/>
          <p:cNvSpPr/>
          <p:nvPr/>
        </p:nvSpPr>
        <p:spPr>
          <a:xfrm>
            <a:off x="6798410" y="3609965"/>
            <a:ext cx="887548" cy="341957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ctr" indent="0" marL="0">
              <a:lnSpc>
                <a:spcPct val="104000"/>
              </a:lnSpc>
              <a:buNone/>
            </a:pPr>
            <a:r>
              <a:rPr dirty="0" sz="10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Solar Modules</a:t>
            </a:r>
            <a:endParaRPr dirty="0" sz="1050" lang="en-US"/>
          </a:p>
        </p:txBody>
      </p:sp>
      <p:sp>
        <p:nvSpPr>
          <p:cNvPr id="1048690" name="Text 23"/>
          <p:cNvSpPr/>
          <p:nvPr/>
        </p:nvSpPr>
        <p:spPr>
          <a:xfrm>
            <a:off x="6283763" y="4359970"/>
            <a:ext cx="5252807" cy="2324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4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Generation Depends On</a:t>
            </a:r>
            <a:endParaRPr dirty="0" sz="1450" lang="en-US"/>
          </a:p>
        </p:txBody>
      </p:sp>
      <p:sp>
        <p:nvSpPr>
          <p:cNvPr id="1048691" name="Shape 24"/>
          <p:cNvSpPr/>
          <p:nvPr/>
        </p:nvSpPr>
        <p:spPr>
          <a:xfrm>
            <a:off x="6283763" y="4825008"/>
            <a:ext cx="74412" cy="74414"/>
          </a:xfrm>
          <a:prstGeom prst="ellipse"/>
          <a:solidFill>
            <a:srgbClr val="1B1B27"/>
          </a:solidFill>
        </p:spPr>
      </p:sp>
      <p:sp>
        <p:nvSpPr>
          <p:cNvPr id="1048692" name="Text 25"/>
          <p:cNvSpPr/>
          <p:nvPr/>
        </p:nvSpPr>
        <p:spPr>
          <a:xfrm>
            <a:off x="6492117" y="4743152"/>
            <a:ext cx="2334360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and solar irradiation levels</a:t>
            </a:r>
            <a:endParaRPr dirty="0" sz="1150" lang="en-US"/>
          </a:p>
        </p:txBody>
      </p:sp>
      <p:sp>
        <p:nvSpPr>
          <p:cNvPr id="1048693" name="Shape 26"/>
          <p:cNvSpPr/>
          <p:nvPr/>
        </p:nvSpPr>
        <p:spPr>
          <a:xfrm>
            <a:off x="8993855" y="4825008"/>
            <a:ext cx="74412" cy="74414"/>
          </a:xfrm>
          <a:prstGeom prst="ellipse"/>
          <a:solidFill>
            <a:srgbClr val="1B1B27"/>
          </a:solidFill>
        </p:spPr>
      </p:sp>
      <p:sp>
        <p:nvSpPr>
          <p:cNvPr id="1048694" name="Text 27"/>
          <p:cNvSpPr/>
          <p:nvPr/>
        </p:nvSpPr>
        <p:spPr>
          <a:xfrm>
            <a:off x="9202210" y="4743152"/>
            <a:ext cx="2334360" cy="45243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Plant design and module technology</a:t>
            </a:r>
            <a:endParaRPr dirty="0" sz="1150" lang="en-US"/>
          </a:p>
        </p:txBody>
      </p:sp>
      <p:sp>
        <p:nvSpPr>
          <p:cNvPr id="1048695" name="Shape 28"/>
          <p:cNvSpPr/>
          <p:nvPr/>
        </p:nvSpPr>
        <p:spPr>
          <a:xfrm>
            <a:off x="6283763" y="5545336"/>
            <a:ext cx="74412" cy="74414"/>
          </a:xfrm>
          <a:prstGeom prst="ellipse"/>
          <a:solidFill>
            <a:srgbClr val="1B1B27"/>
          </a:solidFill>
        </p:spPr>
      </p:sp>
      <p:sp>
        <p:nvSpPr>
          <p:cNvPr id="1048696" name="Text 29"/>
          <p:cNvSpPr/>
          <p:nvPr/>
        </p:nvSpPr>
        <p:spPr>
          <a:xfrm>
            <a:off x="6492117" y="5463480"/>
            <a:ext cx="2334360" cy="22621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Grid availability and curtailment</a:t>
            </a:r>
            <a:endParaRPr dirty="0" sz="1150" lang="en-US"/>
          </a:p>
        </p:txBody>
      </p:sp>
      <p:sp>
        <p:nvSpPr>
          <p:cNvPr id="1048697" name="Shape 30"/>
          <p:cNvSpPr/>
          <p:nvPr/>
        </p:nvSpPr>
        <p:spPr>
          <a:xfrm>
            <a:off x="8993855" y="5545336"/>
            <a:ext cx="74412" cy="74414"/>
          </a:xfrm>
          <a:prstGeom prst="ellipse"/>
          <a:solidFill>
            <a:srgbClr val="1B1B27"/>
          </a:solidFill>
        </p:spPr>
      </p:sp>
      <p:sp>
        <p:nvSpPr>
          <p:cNvPr id="1048698" name="Text 31"/>
          <p:cNvSpPr/>
          <p:nvPr/>
        </p:nvSpPr>
        <p:spPr>
          <a:xfrm>
            <a:off x="9202210" y="5463480"/>
            <a:ext cx="2334360" cy="22621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7000"/>
              </a:lnSpc>
              <a:buNone/>
            </a:pPr>
            <a:r>
              <a:rPr dirty="0" sz="11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Plant performance ratio over time</a:t>
            </a:r>
            <a:endParaRPr dirty="0" sz="115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Shape 0"/>
          <p:cNvSpPr/>
          <p:nvPr/>
        </p:nvSpPr>
        <p:spPr>
          <a:xfrm>
            <a:off x="661475" y="595114"/>
            <a:ext cx="1482787" cy="213717"/>
          </a:xfrm>
          <a:prstGeom prst="roundRect">
            <a:avLst>
              <a:gd name="adj" fmla="val 22102"/>
            </a:avLst>
          </a:prstGeom>
          <a:solidFill>
            <a:srgbClr val="E1E1EA"/>
          </a:solidFill>
        </p:spPr>
      </p:sp>
      <p:sp>
        <p:nvSpPr>
          <p:cNvPr id="1048703" name="Text 1"/>
          <p:cNvSpPr/>
          <p:nvPr/>
        </p:nvSpPr>
        <p:spPr>
          <a:xfrm>
            <a:off x="745809" y="637282"/>
            <a:ext cx="1923704" cy="12938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85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ARCHITECTURE</a:t>
            </a:r>
            <a:endParaRPr dirty="0" sz="850" lang="en-US"/>
          </a:p>
        </p:txBody>
      </p:sp>
      <p:sp>
        <p:nvSpPr>
          <p:cNvPr id="1048704" name="Text 2"/>
          <p:cNvSpPr/>
          <p:nvPr/>
        </p:nvSpPr>
        <p:spPr>
          <a:xfrm>
            <a:off x="661475" y="856555"/>
            <a:ext cx="10868745" cy="4392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27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the Business Earns</a:t>
            </a:r>
            <a:endParaRPr dirty="0" sz="2750" lang="en-US"/>
          </a:p>
        </p:txBody>
      </p:sp>
      <p:sp>
        <p:nvSpPr>
          <p:cNvPr id="1048705" name="Text 3"/>
          <p:cNvSpPr/>
          <p:nvPr/>
        </p:nvSpPr>
        <p:spPr>
          <a:xfrm>
            <a:off x="661475" y="1474986"/>
            <a:ext cx="10868745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plant generates electricity which is monetised through one of four commercial structures. The choice of model determines the effective revenue per unit — which is the single most important variable in the financial case.</a:t>
            </a:r>
            <a:endParaRPr dirty="0" sz="1100" lang="en-US"/>
          </a:p>
        </p:txBody>
      </p:sp>
      <p:pic>
        <p:nvPicPr>
          <p:cNvPr id="209717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61475" y="2025452"/>
            <a:ext cx="5374644" cy="1635125"/>
          </a:xfrm>
          <a:prstGeom prst="rect"/>
        </p:spPr>
      </p:pic>
      <p:sp>
        <p:nvSpPr>
          <p:cNvPr id="1048706" name="Text 4"/>
          <p:cNvSpPr/>
          <p:nvPr/>
        </p:nvSpPr>
        <p:spPr>
          <a:xfrm>
            <a:off x="3243380" y="2120404"/>
            <a:ext cx="210835" cy="26352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16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dirty="0" sz="1650" lang="en-US"/>
          </a:p>
        </p:txBody>
      </p:sp>
      <p:sp>
        <p:nvSpPr>
          <p:cNvPr id="1048707" name="Text 5"/>
          <p:cNvSpPr/>
          <p:nvPr/>
        </p:nvSpPr>
        <p:spPr>
          <a:xfrm>
            <a:off x="821015" y="2585641"/>
            <a:ext cx="5055565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Captive Consumption</a:t>
            </a:r>
            <a:endParaRPr dirty="0" sz="1350" lang="en-US"/>
          </a:p>
        </p:txBody>
      </p:sp>
      <p:sp>
        <p:nvSpPr>
          <p:cNvPr id="1048708" name="Text 6"/>
          <p:cNvSpPr/>
          <p:nvPr/>
        </p:nvSpPr>
        <p:spPr>
          <a:xfrm>
            <a:off x="821015" y="2876848"/>
            <a:ext cx="5055565" cy="62418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Owner's own industrial business consumes the electricity directly. Saves the full industrial grid tariff — potentially the highest economic value per unit with lowest regulatory friction.</a:t>
            </a:r>
            <a:endParaRPr dirty="0" sz="1100" lang="en-US"/>
          </a:p>
        </p:txBody>
      </p:sp>
      <p:pic>
        <p:nvPicPr>
          <p:cNvPr id="209717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155576" y="2025452"/>
            <a:ext cx="5374644" cy="1635125"/>
          </a:xfrm>
          <a:prstGeom prst="rect"/>
        </p:spPr>
      </p:pic>
      <p:sp>
        <p:nvSpPr>
          <p:cNvPr id="1048709" name="Text 7"/>
          <p:cNvSpPr/>
          <p:nvPr/>
        </p:nvSpPr>
        <p:spPr>
          <a:xfrm>
            <a:off x="8737481" y="2120404"/>
            <a:ext cx="210835" cy="26352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16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dirty="0" sz="1650" lang="en-US"/>
          </a:p>
        </p:txBody>
      </p:sp>
      <p:sp>
        <p:nvSpPr>
          <p:cNvPr id="1048710" name="Text 8"/>
          <p:cNvSpPr/>
          <p:nvPr/>
        </p:nvSpPr>
        <p:spPr>
          <a:xfrm>
            <a:off x="6315115" y="2585641"/>
            <a:ext cx="5055565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Group Captive</a:t>
            </a:r>
            <a:endParaRPr dirty="0" sz="1350" lang="en-US"/>
          </a:p>
        </p:txBody>
      </p:sp>
      <p:sp>
        <p:nvSpPr>
          <p:cNvPr id="1048711" name="Text 9"/>
          <p:cNvSpPr/>
          <p:nvPr/>
        </p:nvSpPr>
        <p:spPr>
          <a:xfrm>
            <a:off x="6315115" y="2876848"/>
            <a:ext cx="5055565" cy="62418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 to a group of eligible participating captive consumers who hold equity in the project. Governed by Group Captive regulations — applicable charges must be evaluated carefully.</a:t>
            </a:r>
            <a:endParaRPr dirty="0" sz="1100" lang="en-US"/>
          </a:p>
        </p:txBody>
      </p:sp>
      <p:pic>
        <p:nvPicPr>
          <p:cNvPr id="2097178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61475" y="3780036"/>
            <a:ext cx="5374644" cy="1635125"/>
          </a:xfrm>
          <a:prstGeom prst="rect"/>
        </p:spPr>
      </p:pic>
      <p:sp>
        <p:nvSpPr>
          <p:cNvPr id="1048712" name="Text 10"/>
          <p:cNvSpPr/>
          <p:nvPr/>
        </p:nvSpPr>
        <p:spPr>
          <a:xfrm>
            <a:off x="3243380" y="3874988"/>
            <a:ext cx="210835" cy="26352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16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dirty="0" sz="1650" lang="en-US"/>
          </a:p>
        </p:txBody>
      </p:sp>
      <p:sp>
        <p:nvSpPr>
          <p:cNvPr id="1048713" name="Text 11"/>
          <p:cNvSpPr/>
          <p:nvPr/>
        </p:nvSpPr>
        <p:spPr>
          <a:xfrm>
            <a:off x="821015" y="4340225"/>
            <a:ext cx="5055565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 Access</a:t>
            </a:r>
            <a:endParaRPr dirty="0" sz="1350" lang="en-US"/>
          </a:p>
        </p:txBody>
      </p:sp>
      <p:sp>
        <p:nvSpPr>
          <p:cNvPr id="1048714" name="Text 12"/>
          <p:cNvSpPr/>
          <p:nvPr/>
        </p:nvSpPr>
        <p:spPr>
          <a:xfrm>
            <a:off x="821015" y="4631432"/>
            <a:ext cx="5055565" cy="62418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 to an industrial consumer through the state transmission grid. Subject to wheeling charges, transmission losses, and banking regulations — net realised value is what matters, not the headline rate.</a:t>
            </a:r>
            <a:endParaRPr dirty="0" sz="1100" lang="en-US"/>
          </a:p>
        </p:txBody>
      </p:sp>
      <p:pic>
        <p:nvPicPr>
          <p:cNvPr id="2097179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155576" y="3780036"/>
            <a:ext cx="5374644" cy="1635125"/>
          </a:xfrm>
          <a:prstGeom prst="rect"/>
        </p:spPr>
      </p:pic>
      <p:sp>
        <p:nvSpPr>
          <p:cNvPr id="1048715" name="Text 13"/>
          <p:cNvSpPr/>
          <p:nvPr/>
        </p:nvSpPr>
        <p:spPr>
          <a:xfrm>
            <a:off x="8737481" y="3874988"/>
            <a:ext cx="210835" cy="26352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16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dirty="0" sz="1650" lang="en-US"/>
          </a:p>
        </p:txBody>
      </p:sp>
      <p:sp>
        <p:nvSpPr>
          <p:cNvPr id="1048716" name="Text 14"/>
          <p:cNvSpPr/>
          <p:nvPr/>
        </p:nvSpPr>
        <p:spPr>
          <a:xfrm>
            <a:off x="6315115" y="4340225"/>
            <a:ext cx="5055565" cy="21957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5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Long-Term PPA</a:t>
            </a:r>
            <a:endParaRPr dirty="0" sz="1350" lang="en-US"/>
          </a:p>
        </p:txBody>
      </p:sp>
      <p:sp>
        <p:nvSpPr>
          <p:cNvPr id="1048717" name="Text 15"/>
          <p:cNvSpPr/>
          <p:nvPr/>
        </p:nvSpPr>
        <p:spPr>
          <a:xfrm>
            <a:off x="6315115" y="4631432"/>
            <a:ext cx="5055565" cy="62418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dirty="0" sz="11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Sell electricity under a contractual Power Purchase Agreement with a creditworthy offtaker. Provides revenue certainty and bankability — critical for securing project debt at favourable terms.</a:t>
            </a:r>
            <a:endParaRPr dirty="0" sz="1100" lang="en-US"/>
          </a:p>
        </p:txBody>
      </p:sp>
      <p:sp>
        <p:nvSpPr>
          <p:cNvPr id="1048718" name="Shape 16"/>
          <p:cNvSpPr/>
          <p:nvPr/>
        </p:nvSpPr>
        <p:spPr>
          <a:xfrm>
            <a:off x="661475" y="5549503"/>
            <a:ext cx="10868745" cy="713284"/>
          </a:xfrm>
          <a:prstGeom prst="roundRect">
            <a:avLst>
              <a:gd name="adj" fmla="val 8278"/>
            </a:avLst>
          </a:prstGeom>
          <a:solidFill>
            <a:srgbClr val="E1E1EA"/>
          </a:solidFill>
        </p:spPr>
      </p:sp>
      <p:pic>
        <p:nvPicPr>
          <p:cNvPr id="2097180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01965" y="5720854"/>
            <a:ext cx="175712" cy="140494"/>
          </a:xfrm>
          <a:prstGeom prst="rect"/>
        </p:spPr>
      </p:pic>
      <p:sp>
        <p:nvSpPr>
          <p:cNvPr id="1048719" name="Text 17"/>
          <p:cNvSpPr/>
          <p:nvPr/>
        </p:nvSpPr>
        <p:spPr>
          <a:xfrm>
            <a:off x="1118167" y="5704086"/>
            <a:ext cx="10271563" cy="416123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3000"/>
              </a:lnSpc>
              <a:buNone/>
            </a:pPr>
            <a:r>
              <a:rPr b="1" dirty="0" sz="1100" lang="en-US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Recommended Approach:</a:t>
            </a:r>
            <a:r>
              <a:rPr dirty="0" sz="1100" lang="en-US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First identify a strong industrial offtaker and calculate the actual </a:t>
            </a:r>
            <a:r>
              <a:rPr b="1" dirty="0" sz="1100" lang="en-US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net realised value per unit after all applicable charges.</a:t>
            </a:r>
            <a:r>
              <a:rPr dirty="0" sz="1100" lang="en-US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not decide the business case based on a headline "₹X/unit" figure alone.</a:t>
            </a:r>
            <a:endParaRPr dirty="0" sz="11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Shape 0"/>
          <p:cNvSpPr/>
          <p:nvPr/>
        </p:nvSpPr>
        <p:spPr>
          <a:xfrm>
            <a:off x="661475" y="626170"/>
            <a:ext cx="1185833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</p:spPr>
      </p:sp>
      <p:sp>
        <p:nvSpPr>
          <p:cNvPr id="1048724" name="Text 1"/>
          <p:cNvSpPr/>
          <p:nvPr/>
        </p:nvSpPr>
        <p:spPr>
          <a:xfrm>
            <a:off x="740848" y="665857"/>
            <a:ext cx="1636672" cy="1217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8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CAPITAL STRUCTURE</a:t>
            </a:r>
            <a:endParaRPr dirty="0" sz="800" lang="en-US"/>
          </a:p>
        </p:txBody>
      </p:sp>
      <p:sp>
        <p:nvSpPr>
          <p:cNvPr id="1048725" name="Text 2"/>
          <p:cNvSpPr/>
          <p:nvPr/>
        </p:nvSpPr>
        <p:spPr>
          <a:xfrm>
            <a:off x="661475" y="869553"/>
            <a:ext cx="10868745" cy="41344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26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Cost &amp; Funding Structure</a:t>
            </a:r>
            <a:endParaRPr dirty="0" sz="2600" lang="en-US"/>
          </a:p>
        </p:txBody>
      </p:sp>
      <p:sp>
        <p:nvSpPr>
          <p:cNvPr id="1048726" name="Text 3"/>
          <p:cNvSpPr/>
          <p:nvPr/>
        </p:nvSpPr>
        <p:spPr>
          <a:xfrm>
            <a:off x="661475" y="1547515"/>
            <a:ext cx="5273047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Capital Stack — ₹21 Crore Total</a:t>
            </a:r>
            <a:endParaRPr dirty="0" sz="1300" lang="en-US"/>
          </a:p>
        </p:txBody>
      </p:sp>
      <p:pic>
        <p:nvPicPr>
          <p:cNvPr id="209718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1873250"/>
            <a:ext cx="4218378" cy="3036491"/>
          </a:xfrm>
          <a:prstGeom prst="rect"/>
        </p:spPr>
      </p:pic>
      <p:sp>
        <p:nvSpPr>
          <p:cNvPr id="1048727" name="Text 4"/>
          <p:cNvSpPr/>
          <p:nvPr/>
        </p:nvSpPr>
        <p:spPr>
          <a:xfrm>
            <a:off x="6263523" y="1547515"/>
            <a:ext cx="5273047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Funding Structure Detail</a:t>
            </a:r>
            <a:endParaRPr dirty="0" sz="1300" lang="en-US"/>
          </a:p>
        </p:txBody>
      </p:sp>
      <p:pic>
        <p:nvPicPr>
          <p:cNvPr id="209718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44473" y="1854200"/>
            <a:ext cx="2589445" cy="1319213"/>
          </a:xfrm>
          <a:prstGeom prst="rect"/>
        </p:spPr>
      </p:pic>
      <p:sp>
        <p:nvSpPr>
          <p:cNvPr id="1048728" name="Text 5"/>
          <p:cNvSpPr/>
          <p:nvPr/>
        </p:nvSpPr>
        <p:spPr>
          <a:xfrm>
            <a:off x="6433877" y="1873250"/>
            <a:ext cx="2400042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Promoter Equity — ₹6.3 Crore</a:t>
            </a:r>
            <a:endParaRPr dirty="0" sz="1300" lang="en-US"/>
          </a:p>
        </p:txBody>
      </p:sp>
      <p:sp>
        <p:nvSpPr>
          <p:cNvPr id="1048729" name="Text 6"/>
          <p:cNvSpPr/>
          <p:nvPr/>
        </p:nvSpPr>
        <p:spPr>
          <a:xfrm>
            <a:off x="6433877" y="2185690"/>
            <a:ext cx="2400042" cy="762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Promoter contribution. Establishes ownership, promoter commitment, and skin-in-the-game — a prerequisite for bank financing.</a:t>
            </a:r>
            <a:endParaRPr dirty="0" sz="1000" lang="en-US"/>
          </a:p>
        </p:txBody>
      </p:sp>
      <p:pic>
        <p:nvPicPr>
          <p:cNvPr id="2097183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8947125" y="1854200"/>
            <a:ext cx="2589445" cy="1319213"/>
          </a:xfrm>
          <a:prstGeom prst="rect"/>
        </p:spPr>
      </p:pic>
      <p:sp>
        <p:nvSpPr>
          <p:cNvPr id="1048730" name="Text 7"/>
          <p:cNvSpPr/>
          <p:nvPr/>
        </p:nvSpPr>
        <p:spPr>
          <a:xfrm>
            <a:off x="9136528" y="1873250"/>
            <a:ext cx="2400042" cy="41334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Debt — ~₹14 Crore (Target)</a:t>
            </a:r>
            <a:endParaRPr dirty="0" sz="1300" lang="en-US"/>
          </a:p>
        </p:txBody>
      </p:sp>
      <p:sp>
        <p:nvSpPr>
          <p:cNvPr id="1048731" name="Text 8"/>
          <p:cNvSpPr/>
          <p:nvPr/>
        </p:nvSpPr>
        <p:spPr>
          <a:xfrm>
            <a:off x="9136528" y="2392363"/>
            <a:ext cx="2400042" cy="762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Bank or NBFC project finance. Subject to bank appraisal, sanction, and security requirements. We are </a:t>
            </a:r>
            <a:r>
              <a:rPr dirty="0" sz="1000" i="1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targeting</a:t>
            </a: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₹14 Cr debt — not assuming it.</a:t>
            </a:r>
            <a:endParaRPr dirty="0" sz="1000" lang="en-US"/>
          </a:p>
        </p:txBody>
      </p:sp>
      <p:pic>
        <p:nvPicPr>
          <p:cNvPr id="2097184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44473" y="3346946"/>
            <a:ext cx="5292097" cy="541040"/>
          </a:xfrm>
          <a:prstGeom prst="rect"/>
        </p:spPr>
      </p:pic>
      <p:sp>
        <p:nvSpPr>
          <p:cNvPr id="1048732" name="Text 9"/>
          <p:cNvSpPr/>
          <p:nvPr/>
        </p:nvSpPr>
        <p:spPr>
          <a:xfrm>
            <a:off x="6433877" y="3365996"/>
            <a:ext cx="5102693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Contingency — ~₹0.7 Crore</a:t>
            </a:r>
            <a:endParaRPr dirty="0" sz="1300" lang="en-US"/>
          </a:p>
        </p:txBody>
      </p:sp>
      <p:sp>
        <p:nvSpPr>
          <p:cNvPr id="1048733" name="Text 10"/>
          <p:cNvSpPr/>
          <p:nvPr/>
        </p:nvSpPr>
        <p:spPr>
          <a:xfrm>
            <a:off x="6433877" y="3678436"/>
            <a:ext cx="5102693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Buffer for cost overruns, regulatory changes, and EPC variations during construction.</a:t>
            </a:r>
            <a:endParaRPr dirty="0" sz="1000" lang="en-US"/>
          </a:p>
        </p:txBody>
      </p:sp>
      <p:sp>
        <p:nvSpPr>
          <p:cNvPr id="1048734" name="Text 11"/>
          <p:cNvSpPr/>
          <p:nvPr/>
        </p:nvSpPr>
        <p:spPr>
          <a:xfrm>
            <a:off x="6263523" y="3987998"/>
            <a:ext cx="5273047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 Financing Depends On</a:t>
            </a:r>
            <a:endParaRPr dirty="0" sz="1300" lang="en-US"/>
          </a:p>
        </p:txBody>
      </p:sp>
      <p:sp>
        <p:nvSpPr>
          <p:cNvPr id="1048735" name="Shape 12"/>
          <p:cNvSpPr/>
          <p:nvPr/>
        </p:nvSpPr>
        <p:spPr>
          <a:xfrm>
            <a:off x="6263523" y="4386461"/>
            <a:ext cx="66078" cy="66080"/>
          </a:xfrm>
          <a:prstGeom prst="ellipse"/>
          <a:solidFill>
            <a:srgbClr val="1B1B27"/>
          </a:solidFill>
        </p:spPr>
      </p:sp>
      <p:sp>
        <p:nvSpPr>
          <p:cNvPr id="1048736" name="Text 13"/>
          <p:cNvSpPr/>
          <p:nvPr/>
        </p:nvSpPr>
        <p:spPr>
          <a:xfrm>
            <a:off x="6435366" y="4313734"/>
            <a:ext cx="510120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Promoter financial strength and credit profile</a:t>
            </a:r>
            <a:endParaRPr dirty="0" sz="1000" lang="en-US"/>
          </a:p>
        </p:txBody>
      </p:sp>
      <p:sp>
        <p:nvSpPr>
          <p:cNvPr id="1048737" name="Shape 14"/>
          <p:cNvSpPr/>
          <p:nvPr/>
        </p:nvSpPr>
        <p:spPr>
          <a:xfrm>
            <a:off x="6263523" y="4788595"/>
            <a:ext cx="66078" cy="66080"/>
          </a:xfrm>
          <a:prstGeom prst="ellipse"/>
          <a:solidFill>
            <a:srgbClr val="1B1B27"/>
          </a:solidFill>
        </p:spPr>
      </p:sp>
      <p:sp>
        <p:nvSpPr>
          <p:cNvPr id="1048738" name="Text 15"/>
          <p:cNvSpPr/>
          <p:nvPr/>
        </p:nvSpPr>
        <p:spPr>
          <a:xfrm>
            <a:off x="6435366" y="4715867"/>
            <a:ext cx="510120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Land ownership or long-term lease documentation</a:t>
            </a:r>
            <a:endParaRPr dirty="0" sz="1000" lang="en-US"/>
          </a:p>
        </p:txBody>
      </p:sp>
      <p:sp>
        <p:nvSpPr>
          <p:cNvPr id="1048739" name="Shape 16"/>
          <p:cNvSpPr/>
          <p:nvPr/>
        </p:nvSpPr>
        <p:spPr>
          <a:xfrm>
            <a:off x="6263523" y="5190728"/>
            <a:ext cx="66078" cy="66080"/>
          </a:xfrm>
          <a:prstGeom prst="ellipse"/>
          <a:solidFill>
            <a:srgbClr val="1B1B27"/>
          </a:solidFill>
        </p:spPr>
      </p:sp>
      <p:sp>
        <p:nvSpPr>
          <p:cNvPr id="1048740" name="Text 17"/>
          <p:cNvSpPr/>
          <p:nvPr/>
        </p:nvSpPr>
        <p:spPr>
          <a:xfrm>
            <a:off x="6435366" y="5118001"/>
            <a:ext cx="510120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PPA/offtake agreement quality and offtaker creditworthiness</a:t>
            </a:r>
            <a:endParaRPr dirty="0" sz="1000" lang="en-US"/>
          </a:p>
        </p:txBody>
      </p:sp>
      <p:sp>
        <p:nvSpPr>
          <p:cNvPr id="1048741" name="Shape 18"/>
          <p:cNvSpPr/>
          <p:nvPr/>
        </p:nvSpPr>
        <p:spPr>
          <a:xfrm>
            <a:off x="6263523" y="5592862"/>
            <a:ext cx="66078" cy="66080"/>
          </a:xfrm>
          <a:prstGeom prst="ellipse"/>
          <a:solidFill>
            <a:srgbClr val="1B1B27"/>
          </a:solidFill>
        </p:spPr>
      </p:sp>
      <p:sp>
        <p:nvSpPr>
          <p:cNvPr id="1048742" name="Text 19"/>
          <p:cNvSpPr/>
          <p:nvPr/>
        </p:nvSpPr>
        <p:spPr>
          <a:xfrm>
            <a:off x="6435366" y="5520134"/>
            <a:ext cx="510120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Grid connectivity approval from the utility</a:t>
            </a:r>
            <a:endParaRPr dirty="0" sz="1000" lang="en-US"/>
          </a:p>
        </p:txBody>
      </p:sp>
      <p:sp>
        <p:nvSpPr>
          <p:cNvPr id="1048743" name="Shape 20"/>
          <p:cNvSpPr/>
          <p:nvPr/>
        </p:nvSpPr>
        <p:spPr>
          <a:xfrm>
            <a:off x="6263523" y="5994995"/>
            <a:ext cx="66078" cy="66080"/>
          </a:xfrm>
          <a:prstGeom prst="ellipse"/>
          <a:solidFill>
            <a:srgbClr val="1B1B27"/>
          </a:solidFill>
        </p:spPr>
      </p:sp>
      <p:sp>
        <p:nvSpPr>
          <p:cNvPr id="1048744" name="Text 21"/>
          <p:cNvSpPr/>
          <p:nvPr/>
        </p:nvSpPr>
        <p:spPr>
          <a:xfrm>
            <a:off x="6435366" y="5922268"/>
            <a:ext cx="510120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Acceptable DSCR, security structure, and bank's RE lending policy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Shape 0"/>
          <p:cNvSpPr/>
          <p:nvPr/>
        </p:nvSpPr>
        <p:spPr>
          <a:xfrm>
            <a:off x="661475" y="807442"/>
            <a:ext cx="1088502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</p:spPr>
      </p:sp>
      <p:sp>
        <p:nvSpPr>
          <p:cNvPr id="1048749" name="Text 1"/>
          <p:cNvSpPr/>
          <p:nvPr/>
        </p:nvSpPr>
        <p:spPr>
          <a:xfrm>
            <a:off x="740848" y="847130"/>
            <a:ext cx="1539340" cy="1217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8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BREAKDOWN</a:t>
            </a:r>
            <a:endParaRPr dirty="0" sz="800" lang="en-US"/>
          </a:p>
        </p:txBody>
      </p:sp>
      <p:sp>
        <p:nvSpPr>
          <p:cNvPr id="1048750" name="Text 2"/>
          <p:cNvSpPr/>
          <p:nvPr/>
        </p:nvSpPr>
        <p:spPr>
          <a:xfrm>
            <a:off x="661475" y="1050826"/>
            <a:ext cx="10868745" cy="41344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26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the ₹21 Crore Goes</a:t>
            </a:r>
            <a:endParaRPr dirty="0" sz="2600" lang="en-US"/>
          </a:p>
        </p:txBody>
      </p:sp>
      <p:pic>
        <p:nvPicPr>
          <p:cNvPr id="209718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1742083"/>
            <a:ext cx="4218378" cy="3036491"/>
          </a:xfrm>
          <a:prstGeom prst="rect"/>
        </p:spPr>
      </p:pic>
      <p:sp>
        <p:nvSpPr>
          <p:cNvPr id="1048751" name="Text 3"/>
          <p:cNvSpPr/>
          <p:nvPr/>
        </p:nvSpPr>
        <p:spPr>
          <a:xfrm>
            <a:off x="6263523" y="1728788"/>
            <a:ext cx="5273047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Commentary</a:t>
            </a:r>
            <a:endParaRPr dirty="0" sz="1300" lang="en-US"/>
          </a:p>
        </p:txBody>
      </p:sp>
      <p:sp>
        <p:nvSpPr>
          <p:cNvPr id="1048752" name="Text 4"/>
          <p:cNvSpPr/>
          <p:nvPr/>
        </p:nvSpPr>
        <p:spPr>
          <a:xfrm>
            <a:off x="6263523" y="2041227"/>
            <a:ext cx="5273047" cy="5715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Solar modules represent </a:t>
            </a:r>
            <a:r>
              <a:rPr b="1" dirty="0" sz="100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45% of total project cost</a:t>
            </a: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making module procurement strategy a critical lever in cost optimisation. The second-largest block is inverters, electrical BOS, and civil/structural works combined.</a:t>
            </a:r>
            <a:endParaRPr dirty="0" sz="1000" lang="en-US"/>
          </a:p>
        </p:txBody>
      </p:sp>
      <p:pic>
        <p:nvPicPr>
          <p:cNvPr id="2097186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63523" y="2731790"/>
            <a:ext cx="5273047" cy="996057"/>
          </a:xfrm>
          <a:prstGeom prst="rect"/>
        </p:spPr>
      </p:pic>
      <p:sp>
        <p:nvSpPr>
          <p:cNvPr id="1048753" name="Text 5"/>
          <p:cNvSpPr/>
          <p:nvPr/>
        </p:nvSpPr>
        <p:spPr>
          <a:xfrm>
            <a:off x="6491026" y="2883098"/>
            <a:ext cx="4894239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Modules — ₹9.5 Cr</a:t>
            </a:r>
            <a:endParaRPr dirty="0" sz="1300" lang="en-US"/>
          </a:p>
        </p:txBody>
      </p:sp>
      <p:sp>
        <p:nvSpPr>
          <p:cNvPr id="1048754" name="Text 6"/>
          <p:cNvSpPr/>
          <p:nvPr/>
        </p:nvSpPr>
        <p:spPr>
          <a:xfrm>
            <a:off x="6491026" y="3195538"/>
            <a:ext cx="4894239" cy="381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Largest single cost item. Technology, brand, and warranty terms matter as much as unit price. N-Type TOPCon preferred for long-term yield.</a:t>
            </a:r>
            <a:endParaRPr dirty="0" sz="1000" lang="en-US"/>
          </a:p>
        </p:txBody>
      </p:sp>
      <p:pic>
        <p:nvPicPr>
          <p:cNvPr id="2097187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63523" y="3833614"/>
            <a:ext cx="5273047" cy="996057"/>
          </a:xfrm>
          <a:prstGeom prst="rect"/>
        </p:spPr>
      </p:pic>
      <p:sp>
        <p:nvSpPr>
          <p:cNvPr id="1048755" name="Text 7"/>
          <p:cNvSpPr/>
          <p:nvPr/>
        </p:nvSpPr>
        <p:spPr>
          <a:xfrm>
            <a:off x="6491026" y="3984923"/>
            <a:ext cx="4894239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 Evacuation — ₹1.2 Cr</a:t>
            </a:r>
            <a:endParaRPr dirty="0" sz="1300" lang="en-US"/>
          </a:p>
        </p:txBody>
      </p:sp>
      <p:sp>
        <p:nvSpPr>
          <p:cNvPr id="1048756" name="Text 8"/>
          <p:cNvSpPr/>
          <p:nvPr/>
        </p:nvSpPr>
        <p:spPr>
          <a:xfrm>
            <a:off x="6491026" y="4297363"/>
            <a:ext cx="4894239" cy="381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 to utility-specific requirements. Must be validated with actual utility connectivity estimate before project cost is finalised.</a:t>
            </a:r>
            <a:endParaRPr dirty="0" sz="1000" lang="en-US"/>
          </a:p>
        </p:txBody>
      </p:sp>
      <p:pic>
        <p:nvPicPr>
          <p:cNvPr id="2097188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63523" y="4935438"/>
            <a:ext cx="5273047" cy="996057"/>
          </a:xfrm>
          <a:prstGeom prst="rect"/>
        </p:spPr>
      </p:pic>
      <p:sp>
        <p:nvSpPr>
          <p:cNvPr id="1048757" name="Text 9"/>
          <p:cNvSpPr/>
          <p:nvPr/>
        </p:nvSpPr>
        <p:spPr>
          <a:xfrm>
            <a:off x="6491026" y="5086747"/>
            <a:ext cx="4894239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EPC / Engineering — ₹2.0 Cr</a:t>
            </a:r>
            <a:endParaRPr dirty="0" sz="1300" lang="en-US"/>
          </a:p>
        </p:txBody>
      </p:sp>
      <p:sp>
        <p:nvSpPr>
          <p:cNvPr id="1048758" name="Text 10"/>
          <p:cNvSpPr/>
          <p:nvPr/>
        </p:nvSpPr>
        <p:spPr>
          <a:xfrm>
            <a:off x="6491026" y="5399187"/>
            <a:ext cx="4894239" cy="381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Covers design, procurement management, commissioning, and project management. A fixed-price EPC contract is strongly recommended.</a:t>
            </a:r>
            <a:endParaRPr dirty="0" sz="10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Shape 0"/>
          <p:cNvSpPr/>
          <p:nvPr/>
        </p:nvSpPr>
        <p:spPr>
          <a:xfrm>
            <a:off x="661475" y="462161"/>
            <a:ext cx="1697293" cy="201116"/>
          </a:xfrm>
          <a:prstGeom prst="roundRect">
            <a:avLst>
              <a:gd name="adj" fmla="val 22105"/>
            </a:avLst>
          </a:prstGeom>
          <a:solidFill>
            <a:srgbClr val="E1E1EA"/>
          </a:solidFill>
        </p:spPr>
      </p:sp>
      <p:sp>
        <p:nvSpPr>
          <p:cNvPr id="1048763" name="Text 1"/>
          <p:cNvSpPr/>
          <p:nvPr/>
        </p:nvSpPr>
        <p:spPr>
          <a:xfrm>
            <a:off x="740848" y="501848"/>
            <a:ext cx="2148131" cy="1217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8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CONSERVATIVE CASE ANALYSIS</a:t>
            </a:r>
            <a:endParaRPr dirty="0" sz="800" lang="en-US"/>
          </a:p>
        </p:txBody>
      </p:sp>
      <p:sp>
        <p:nvSpPr>
          <p:cNvPr id="1048764" name="Text 2"/>
          <p:cNvSpPr/>
          <p:nvPr/>
        </p:nvSpPr>
        <p:spPr>
          <a:xfrm>
            <a:off x="661475" y="705545"/>
            <a:ext cx="10868745" cy="41344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26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Critical Case: ₹3/Unit Economics</a:t>
            </a:r>
            <a:endParaRPr dirty="0" sz="2600" lang="en-US"/>
          </a:p>
        </p:txBody>
      </p:sp>
      <p:sp>
        <p:nvSpPr>
          <p:cNvPr id="1048765" name="Text 3"/>
          <p:cNvSpPr/>
          <p:nvPr/>
        </p:nvSpPr>
        <p:spPr>
          <a:xfrm>
            <a:off x="661475" y="1277739"/>
            <a:ext cx="10868745" cy="381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analysis models the plant at the lowest commercially viable electricity price — </a:t>
            </a:r>
            <a:r>
              <a:rPr b="1" dirty="0" sz="100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₹3 per unit</a:t>
            </a: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 is not the target case. It is the stress test that demonstrates whether the project can survive its most conservative revenue scenario during the loan repayment period.</a:t>
            </a:r>
            <a:endParaRPr dirty="0" sz="1000" lang="en-US"/>
          </a:p>
        </p:txBody>
      </p:sp>
      <p:sp>
        <p:nvSpPr>
          <p:cNvPr id="1048766" name="Shape 4"/>
          <p:cNvSpPr/>
          <p:nvPr/>
        </p:nvSpPr>
        <p:spPr>
          <a:xfrm>
            <a:off x="566227" y="1777802"/>
            <a:ext cx="5463542" cy="4618038"/>
          </a:xfrm>
          <a:prstGeom prst="roundRect">
            <a:avLst>
              <a:gd name="adj" fmla="val 2063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1048767" name="Text 5"/>
          <p:cNvSpPr/>
          <p:nvPr/>
        </p:nvSpPr>
        <p:spPr>
          <a:xfrm>
            <a:off x="698483" y="1883569"/>
            <a:ext cx="5199032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P&amp;L at ₹3/Unit</a:t>
            </a:r>
            <a:endParaRPr dirty="0" sz="1300" lang="en-US"/>
          </a:p>
        </p:txBody>
      </p:sp>
      <p:pic>
        <p:nvPicPr>
          <p:cNvPr id="209718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79433" y="2190254"/>
            <a:ext cx="2552438" cy="541040"/>
          </a:xfrm>
          <a:prstGeom prst="rect"/>
        </p:spPr>
      </p:pic>
      <p:sp>
        <p:nvSpPr>
          <p:cNvPr id="1048768" name="Text 6"/>
          <p:cNvSpPr/>
          <p:nvPr/>
        </p:nvSpPr>
        <p:spPr>
          <a:xfrm>
            <a:off x="868837" y="2209304"/>
            <a:ext cx="2363034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Annual Generation</a:t>
            </a:r>
            <a:endParaRPr dirty="0" sz="1300" lang="en-US"/>
          </a:p>
        </p:txBody>
      </p:sp>
      <p:sp>
        <p:nvSpPr>
          <p:cNvPr id="1048769" name="Text 7"/>
          <p:cNvSpPr/>
          <p:nvPr/>
        </p:nvSpPr>
        <p:spPr>
          <a:xfrm>
            <a:off x="868837" y="2521744"/>
            <a:ext cx="236303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 million units (base case)</a:t>
            </a:r>
            <a:endParaRPr dirty="0" sz="1000" lang="en-US"/>
          </a:p>
        </p:txBody>
      </p:sp>
      <p:pic>
        <p:nvPicPr>
          <p:cNvPr id="209719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45076" y="2190254"/>
            <a:ext cx="2552438" cy="541040"/>
          </a:xfrm>
          <a:prstGeom prst="rect"/>
        </p:spPr>
      </p:pic>
      <p:sp>
        <p:nvSpPr>
          <p:cNvPr id="1048770" name="Text 8"/>
          <p:cNvSpPr/>
          <p:nvPr/>
        </p:nvSpPr>
        <p:spPr>
          <a:xfrm>
            <a:off x="3534480" y="2209304"/>
            <a:ext cx="2363034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@ ₹3/unit</a:t>
            </a:r>
            <a:endParaRPr dirty="0" sz="1300" lang="en-US"/>
          </a:p>
        </p:txBody>
      </p:sp>
      <p:sp>
        <p:nvSpPr>
          <p:cNvPr id="1048771" name="Text 9"/>
          <p:cNvSpPr/>
          <p:nvPr/>
        </p:nvSpPr>
        <p:spPr>
          <a:xfrm>
            <a:off x="3534480" y="2521744"/>
            <a:ext cx="236303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₹2.55 Crore</a:t>
            </a:r>
            <a:endParaRPr dirty="0" sz="1000" lang="en-US"/>
          </a:p>
        </p:txBody>
      </p:sp>
      <p:pic>
        <p:nvPicPr>
          <p:cNvPr id="2097191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79433" y="2904827"/>
            <a:ext cx="2552438" cy="541040"/>
          </a:xfrm>
          <a:prstGeom prst="rect"/>
        </p:spPr>
      </p:pic>
      <p:sp>
        <p:nvSpPr>
          <p:cNvPr id="1048772" name="Text 10"/>
          <p:cNvSpPr/>
          <p:nvPr/>
        </p:nvSpPr>
        <p:spPr>
          <a:xfrm>
            <a:off x="868837" y="2923877"/>
            <a:ext cx="2363034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Less: Land Rent</a:t>
            </a:r>
            <a:endParaRPr dirty="0" sz="1300" lang="en-US"/>
          </a:p>
        </p:txBody>
      </p:sp>
      <p:sp>
        <p:nvSpPr>
          <p:cNvPr id="1048773" name="Text 11"/>
          <p:cNvSpPr/>
          <p:nvPr/>
        </p:nvSpPr>
        <p:spPr>
          <a:xfrm>
            <a:off x="868837" y="3236317"/>
            <a:ext cx="236303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₹0.15 Crore</a:t>
            </a:r>
            <a:endParaRPr dirty="0" sz="1000" lang="en-US"/>
          </a:p>
        </p:txBody>
      </p:sp>
      <p:pic>
        <p:nvPicPr>
          <p:cNvPr id="2097192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45076" y="2904827"/>
            <a:ext cx="2552438" cy="541040"/>
          </a:xfrm>
          <a:prstGeom prst="rect"/>
        </p:spPr>
      </p:pic>
      <p:sp>
        <p:nvSpPr>
          <p:cNvPr id="1048774" name="Text 12"/>
          <p:cNvSpPr/>
          <p:nvPr/>
        </p:nvSpPr>
        <p:spPr>
          <a:xfrm>
            <a:off x="3534480" y="2923877"/>
            <a:ext cx="2363034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Less: O&amp;M + Insurance + Admin</a:t>
            </a:r>
            <a:endParaRPr dirty="0" sz="1300" lang="en-US"/>
          </a:p>
        </p:txBody>
      </p:sp>
      <p:sp>
        <p:nvSpPr>
          <p:cNvPr id="1048775" name="Text 13"/>
          <p:cNvSpPr/>
          <p:nvPr/>
        </p:nvSpPr>
        <p:spPr>
          <a:xfrm>
            <a:off x="3534480" y="3236317"/>
            <a:ext cx="236303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₹0.45 Crore</a:t>
            </a:r>
            <a:endParaRPr dirty="0" sz="1000" lang="en-US"/>
          </a:p>
        </p:txBody>
      </p:sp>
      <p:pic>
        <p:nvPicPr>
          <p:cNvPr id="2097193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79433" y="3619401"/>
            <a:ext cx="2552438" cy="541040"/>
          </a:xfrm>
          <a:prstGeom prst="rect"/>
        </p:spPr>
      </p:pic>
      <p:sp>
        <p:nvSpPr>
          <p:cNvPr id="1048776" name="Text 14"/>
          <p:cNvSpPr/>
          <p:nvPr/>
        </p:nvSpPr>
        <p:spPr>
          <a:xfrm>
            <a:off x="868837" y="3638451"/>
            <a:ext cx="2363034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Less: Bank Debt Service (EMI)</a:t>
            </a:r>
            <a:endParaRPr dirty="0" sz="1300" lang="en-US"/>
          </a:p>
        </p:txBody>
      </p:sp>
      <p:sp>
        <p:nvSpPr>
          <p:cNvPr id="1048777" name="Text 15"/>
          <p:cNvSpPr/>
          <p:nvPr/>
        </p:nvSpPr>
        <p:spPr>
          <a:xfrm>
            <a:off x="868837" y="3950891"/>
            <a:ext cx="236303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~₹1.96 Crore (₹14 Cr @ 9.5%, 12 years)</a:t>
            </a:r>
            <a:endParaRPr dirty="0" sz="1000" lang="en-US"/>
          </a:p>
        </p:txBody>
      </p:sp>
      <p:pic>
        <p:nvPicPr>
          <p:cNvPr id="2097194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3345076" y="3619401"/>
            <a:ext cx="2552438" cy="541040"/>
          </a:xfrm>
          <a:prstGeom prst="rect"/>
        </p:spPr>
      </p:pic>
      <p:sp>
        <p:nvSpPr>
          <p:cNvPr id="1048778" name="Text 16"/>
          <p:cNvSpPr/>
          <p:nvPr/>
        </p:nvSpPr>
        <p:spPr>
          <a:xfrm>
            <a:off x="3534480" y="3638451"/>
            <a:ext cx="2363034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Cash Remaining</a:t>
            </a:r>
            <a:endParaRPr dirty="0" sz="1300" lang="en-US"/>
          </a:p>
        </p:txBody>
      </p:sp>
      <p:sp>
        <p:nvSpPr>
          <p:cNvPr id="1048779" name="Text 17"/>
          <p:cNvSpPr/>
          <p:nvPr/>
        </p:nvSpPr>
        <p:spPr>
          <a:xfrm>
            <a:off x="3534480" y="3950891"/>
            <a:ext cx="2363034" cy="190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20000"/>
              </a:lnSpc>
              <a:buNone/>
            </a:pPr>
            <a:r>
              <a:rPr b="1" dirty="0" sz="1000" lang="en-US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≈ ₹0 Crore</a:t>
            </a:r>
            <a:endParaRPr dirty="0" sz="1000" lang="en-US"/>
          </a:p>
        </p:txBody>
      </p:sp>
      <p:sp>
        <p:nvSpPr>
          <p:cNvPr id="1048780" name="Text 18"/>
          <p:cNvSpPr/>
          <p:nvPr/>
        </p:nvSpPr>
        <p:spPr>
          <a:xfrm>
            <a:off x="6263523" y="1883569"/>
            <a:ext cx="5273047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This Means</a:t>
            </a:r>
            <a:endParaRPr dirty="0" sz="1300" lang="en-US"/>
          </a:p>
        </p:txBody>
      </p:sp>
      <p:sp>
        <p:nvSpPr>
          <p:cNvPr id="1048781" name="Text 19"/>
          <p:cNvSpPr/>
          <p:nvPr/>
        </p:nvSpPr>
        <p:spPr>
          <a:xfrm>
            <a:off x="6263523" y="2196009"/>
            <a:ext cx="5273047" cy="5715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₹3/unit, the project covers all operating costs and services its debt — but leaves </a:t>
            </a:r>
            <a:r>
              <a:rPr b="1" dirty="0" sz="100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almost no surplus</a:t>
            </a: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the promoter during the loan period. This is precisely why ₹3/unit is a conservative downside case, not a business target.</a:t>
            </a:r>
            <a:endParaRPr dirty="0" sz="1000" lang="en-US"/>
          </a:p>
        </p:txBody>
      </p:sp>
      <p:pic>
        <p:nvPicPr>
          <p:cNvPr id="2097195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63523" y="2886571"/>
            <a:ext cx="5273047" cy="996057"/>
          </a:xfrm>
          <a:prstGeom prst="rect"/>
        </p:spPr>
      </p:pic>
      <p:sp>
        <p:nvSpPr>
          <p:cNvPr id="1048782" name="Text 20"/>
          <p:cNvSpPr/>
          <p:nvPr/>
        </p:nvSpPr>
        <p:spPr>
          <a:xfrm>
            <a:off x="6491026" y="3037880"/>
            <a:ext cx="4894239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Loan Period (~12 Years)</a:t>
            </a:r>
            <a:endParaRPr dirty="0" sz="1300" lang="en-US"/>
          </a:p>
        </p:txBody>
      </p:sp>
      <p:sp>
        <p:nvSpPr>
          <p:cNvPr id="1048783" name="Text 21"/>
          <p:cNvSpPr/>
          <p:nvPr/>
        </p:nvSpPr>
        <p:spPr>
          <a:xfrm>
            <a:off x="6491026" y="3350320"/>
            <a:ext cx="4894239" cy="381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cash flows are fully absorbed by operating costs and debt service. Promoter receives no meaningful distribution unless offtake price is above ₹3/unit.</a:t>
            </a:r>
            <a:endParaRPr dirty="0" sz="1000" lang="en-US"/>
          </a:p>
        </p:txBody>
      </p:sp>
      <p:pic>
        <p:nvPicPr>
          <p:cNvPr id="2097196" name="Image 7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63523" y="3988395"/>
            <a:ext cx="5273047" cy="996057"/>
          </a:xfrm>
          <a:prstGeom prst="rect"/>
        </p:spPr>
      </p:pic>
      <p:sp>
        <p:nvSpPr>
          <p:cNvPr id="1048784" name="Text 22"/>
          <p:cNvSpPr/>
          <p:nvPr/>
        </p:nvSpPr>
        <p:spPr>
          <a:xfrm>
            <a:off x="6491026" y="4139704"/>
            <a:ext cx="4894239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Post-Debt Period (Year 13–25+)</a:t>
            </a:r>
            <a:endParaRPr dirty="0" sz="1300" lang="en-US"/>
          </a:p>
        </p:txBody>
      </p:sp>
      <p:sp>
        <p:nvSpPr>
          <p:cNvPr id="1048785" name="Text 23"/>
          <p:cNvSpPr/>
          <p:nvPr/>
        </p:nvSpPr>
        <p:spPr>
          <a:xfrm>
            <a:off x="6491026" y="4452144"/>
            <a:ext cx="4894239" cy="3810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loan repayment, annual revenue of ₹2.55 Cr (at ₹3/unit) flows almost entirely as free cash to the owner — a dramatically different picture.</a:t>
            </a:r>
            <a:endParaRPr dirty="0" sz="1000" lang="en-US"/>
          </a:p>
        </p:txBody>
      </p:sp>
      <p:pic>
        <p:nvPicPr>
          <p:cNvPr id="2097197" name="Image 8" descr="preencoded.png"/>
          <p:cNvPicPr>
            <a:picLocks noChangeAspect="1"/>
          </p:cNvPicPr>
          <p:nvPr/>
        </p:nvPicPr>
        <p:blipFill>
          <a:blip xmlns:r="http://schemas.openxmlformats.org/officeDocument/2006/relationships"/>
          <a:stretch>
            <a:fillRect/>
          </a:stretch>
        </p:blipFill>
        <p:spPr>
          <a:xfrm>
            <a:off x="6263523" y="5090220"/>
            <a:ext cx="5273047" cy="1186557"/>
          </a:xfrm>
          <a:prstGeom prst="rect"/>
        </p:spPr>
      </p:pic>
      <p:sp>
        <p:nvSpPr>
          <p:cNvPr id="1048786" name="Text 24"/>
          <p:cNvSpPr/>
          <p:nvPr/>
        </p:nvSpPr>
        <p:spPr>
          <a:xfrm>
            <a:off x="6491026" y="5241528"/>
            <a:ext cx="4894239" cy="20667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3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Honest Analysis</a:t>
            </a:r>
            <a:endParaRPr dirty="0" sz="1300" lang="en-US"/>
          </a:p>
        </p:txBody>
      </p:sp>
      <p:sp>
        <p:nvSpPr>
          <p:cNvPr id="1048787" name="Text 25"/>
          <p:cNvSpPr/>
          <p:nvPr/>
        </p:nvSpPr>
        <p:spPr>
          <a:xfrm>
            <a:off x="6491026" y="5553968"/>
            <a:ext cx="4894239" cy="57150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0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model demonstrates realistic, conservative thinking — not exaggerated projections. The project must be structured to perform above ₹3/unit to generate promoter returns during the loan period.</a:t>
            </a:r>
            <a:endParaRPr dirty="0" sz="10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Shape 0"/>
          <p:cNvSpPr/>
          <p:nvPr/>
        </p:nvSpPr>
        <p:spPr>
          <a:xfrm>
            <a:off x="661475" y="454819"/>
            <a:ext cx="824686" cy="81459"/>
          </a:xfrm>
          <a:prstGeom prst="roundRect">
            <a:avLst>
              <a:gd name="adj" fmla="val 22172"/>
            </a:avLst>
          </a:prstGeom>
          <a:solidFill>
            <a:srgbClr val="E1E1EA"/>
          </a:solidFill>
        </p:spPr>
      </p:sp>
      <p:sp>
        <p:nvSpPr>
          <p:cNvPr id="1048792" name="Text 1"/>
          <p:cNvSpPr/>
          <p:nvPr/>
        </p:nvSpPr>
        <p:spPr>
          <a:xfrm>
            <a:off x="693720" y="470892"/>
            <a:ext cx="1369780" cy="4931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3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SENSITIVITY ANALYSIS &amp; CONCLUSION</a:t>
            </a:r>
            <a:endParaRPr dirty="0" sz="300" lang="en-US"/>
          </a:p>
        </p:txBody>
      </p:sp>
      <p:sp>
        <p:nvSpPr>
          <p:cNvPr id="1048793" name="Text 2"/>
          <p:cNvSpPr/>
          <p:nvPr/>
        </p:nvSpPr>
        <p:spPr>
          <a:xfrm>
            <a:off x="661475" y="543223"/>
            <a:ext cx="10868745" cy="16787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105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Profitability Sensitivity: ₹3–₹5 Per Unit</a:t>
            </a:r>
            <a:endParaRPr dirty="0" sz="1050" lang="en-US"/>
          </a:p>
        </p:txBody>
      </p:sp>
      <p:sp>
        <p:nvSpPr>
          <p:cNvPr id="1048794" name="Text 3"/>
          <p:cNvSpPr/>
          <p:nvPr/>
        </p:nvSpPr>
        <p:spPr>
          <a:xfrm>
            <a:off x="661475" y="737295"/>
            <a:ext cx="11478330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table below shows how annual cash surplus changes as the effective realised price per unit increases. </a:t>
            </a:r>
            <a:r>
              <a:rPr b="1" dirty="0" sz="400" lang="en-US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three levers that drive profitability are: (1) offtake price, (2) project cost, and (3) cost of finance.</a:t>
            </a: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Our job — before construction — is to optimise all three.</a:t>
            </a:r>
            <a:endParaRPr dirty="0" sz="400" lang="en-US"/>
          </a:p>
        </p:txBody>
      </p:sp>
      <p:pic>
        <p:nvPicPr>
          <p:cNvPr id="209719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1475" y="813891"/>
            <a:ext cx="7064595" cy="3957737"/>
          </a:xfrm>
          <a:prstGeom prst="rect"/>
        </p:spPr>
      </p:pic>
      <p:sp>
        <p:nvSpPr>
          <p:cNvPr id="1048795" name="Text 4"/>
          <p:cNvSpPr/>
          <p:nvPr/>
        </p:nvSpPr>
        <p:spPr>
          <a:xfrm>
            <a:off x="661475" y="4808736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Three Profitability Levers</a:t>
            </a:r>
            <a:endParaRPr dirty="0" sz="500" lang="en-US"/>
          </a:p>
        </p:txBody>
      </p:sp>
      <p:sp>
        <p:nvSpPr>
          <p:cNvPr id="1048796" name="Shape 5"/>
          <p:cNvSpPr/>
          <p:nvPr/>
        </p:nvSpPr>
        <p:spPr>
          <a:xfrm>
            <a:off x="661475" y="4912320"/>
            <a:ext cx="120845" cy="120848"/>
          </a:xfrm>
          <a:prstGeom prst="roundRect">
            <a:avLst>
              <a:gd name="adj" fmla="val 1868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797" name="Text 6"/>
          <p:cNvSpPr/>
          <p:nvPr/>
        </p:nvSpPr>
        <p:spPr>
          <a:xfrm>
            <a:off x="681616" y="4922391"/>
            <a:ext cx="80564" cy="100707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dirty="0" sz="600" lang="en-US"/>
          </a:p>
        </p:txBody>
      </p:sp>
      <p:sp>
        <p:nvSpPr>
          <p:cNvPr id="1048798" name="Text 7"/>
          <p:cNvSpPr/>
          <p:nvPr/>
        </p:nvSpPr>
        <p:spPr>
          <a:xfrm>
            <a:off x="799782" y="4930775"/>
            <a:ext cx="5230582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Offtake Price</a:t>
            </a:r>
            <a:endParaRPr dirty="0" sz="500" lang="en-US"/>
          </a:p>
        </p:txBody>
      </p:sp>
      <p:sp>
        <p:nvSpPr>
          <p:cNvPr id="1048799" name="Text 8"/>
          <p:cNvSpPr/>
          <p:nvPr/>
        </p:nvSpPr>
        <p:spPr>
          <a:xfrm>
            <a:off x="799782" y="5032177"/>
            <a:ext cx="5230582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single largest driver. Securing a creditworthy industrial offtaker at ₹4.00+ per unit changes the project economics fundamentally during the loan period.</a:t>
            </a:r>
            <a:endParaRPr dirty="0" sz="400" lang="en-US"/>
          </a:p>
        </p:txBody>
      </p:sp>
      <p:sp>
        <p:nvSpPr>
          <p:cNvPr id="1048800" name="Shape 9"/>
          <p:cNvSpPr/>
          <p:nvPr/>
        </p:nvSpPr>
        <p:spPr>
          <a:xfrm>
            <a:off x="661475" y="5124053"/>
            <a:ext cx="120845" cy="120848"/>
          </a:xfrm>
          <a:prstGeom prst="roundRect">
            <a:avLst>
              <a:gd name="adj" fmla="val 1868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801" name="Text 10"/>
          <p:cNvSpPr/>
          <p:nvPr/>
        </p:nvSpPr>
        <p:spPr>
          <a:xfrm>
            <a:off x="681616" y="5134124"/>
            <a:ext cx="80564" cy="100707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dirty="0" sz="600" lang="en-US"/>
          </a:p>
        </p:txBody>
      </p:sp>
      <p:sp>
        <p:nvSpPr>
          <p:cNvPr id="1048802" name="Text 11"/>
          <p:cNvSpPr/>
          <p:nvPr/>
        </p:nvSpPr>
        <p:spPr>
          <a:xfrm>
            <a:off x="799782" y="5142508"/>
            <a:ext cx="5230582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Cost</a:t>
            </a:r>
            <a:endParaRPr dirty="0" sz="500" lang="en-US"/>
          </a:p>
        </p:txBody>
      </p:sp>
      <p:sp>
        <p:nvSpPr>
          <p:cNvPr id="1048803" name="Text 12"/>
          <p:cNvSpPr/>
          <p:nvPr/>
        </p:nvSpPr>
        <p:spPr>
          <a:xfrm>
            <a:off x="799782" y="5243909"/>
            <a:ext cx="5230582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₹1 Crore saved in EPC cost reduces required debt and improves DSCR. Competitive EPC procurement is a non-negotiable exercise.</a:t>
            </a:r>
            <a:endParaRPr dirty="0" sz="400" lang="en-US"/>
          </a:p>
        </p:txBody>
      </p:sp>
      <p:sp>
        <p:nvSpPr>
          <p:cNvPr id="1048804" name="Shape 13"/>
          <p:cNvSpPr/>
          <p:nvPr/>
        </p:nvSpPr>
        <p:spPr>
          <a:xfrm>
            <a:off x="661475" y="5335786"/>
            <a:ext cx="120845" cy="120848"/>
          </a:xfrm>
          <a:prstGeom prst="roundRect">
            <a:avLst>
              <a:gd name="adj" fmla="val 1868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48805" name="Text 14"/>
          <p:cNvSpPr/>
          <p:nvPr/>
        </p:nvSpPr>
        <p:spPr>
          <a:xfrm>
            <a:off x="681616" y="5345857"/>
            <a:ext cx="80564" cy="100707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ct val="100000"/>
              </a:lnSpc>
              <a:buNone/>
            </a:pPr>
            <a:r>
              <a:rPr dirty="0" sz="6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dirty="0" sz="600" lang="en-US"/>
          </a:p>
        </p:txBody>
      </p:sp>
      <p:sp>
        <p:nvSpPr>
          <p:cNvPr id="1048806" name="Text 15"/>
          <p:cNvSpPr/>
          <p:nvPr/>
        </p:nvSpPr>
        <p:spPr>
          <a:xfrm>
            <a:off x="799782" y="5354241"/>
            <a:ext cx="5230582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of Finance</a:t>
            </a:r>
            <a:endParaRPr dirty="0" sz="500" lang="en-US"/>
          </a:p>
        </p:txBody>
      </p:sp>
      <p:sp>
        <p:nvSpPr>
          <p:cNvPr id="1048807" name="Text 16"/>
          <p:cNvSpPr/>
          <p:nvPr/>
        </p:nvSpPr>
        <p:spPr>
          <a:xfrm>
            <a:off x="799782" y="5455642"/>
            <a:ext cx="5230582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Interest rate and loan tenure directly determine annual debt service. A lower rate or longer tenor meaningfully improves monthly cash flow during the repayment period.</a:t>
            </a:r>
            <a:endParaRPr dirty="0" sz="400" lang="en-US"/>
          </a:p>
        </p:txBody>
      </p:sp>
      <p:sp>
        <p:nvSpPr>
          <p:cNvPr id="1048808" name="Text 17"/>
          <p:cNvSpPr/>
          <p:nvPr/>
        </p:nvSpPr>
        <p:spPr>
          <a:xfrm>
            <a:off x="6248244" y="4826595"/>
            <a:ext cx="5897911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project does not become attractive merely because it is solar. It becomes attractive when we secure the right offtake, build at the right cost, and finance it correctly."</a:t>
            </a:r>
            <a:endParaRPr dirty="0" sz="400" lang="en-US"/>
          </a:p>
        </p:txBody>
      </p:sp>
      <p:sp>
        <p:nvSpPr>
          <p:cNvPr id="1048809" name="Shape 18"/>
          <p:cNvSpPr/>
          <p:nvPr/>
        </p:nvSpPr>
        <p:spPr>
          <a:xfrm>
            <a:off x="6167680" y="4810919"/>
            <a:ext cx="6350" cy="88305"/>
          </a:xfrm>
          <a:prstGeom prst="roundRect">
            <a:avLst>
              <a:gd name="adj" fmla="val 49999"/>
            </a:avLst>
          </a:prstGeom>
          <a:solidFill>
            <a:srgbClr val="1B1B27"/>
          </a:solidFill>
        </p:spPr>
      </p:sp>
      <p:sp>
        <p:nvSpPr>
          <p:cNvPr id="1048810" name="Text 19"/>
          <p:cNvSpPr/>
          <p:nvPr/>
        </p:nvSpPr>
        <p:spPr>
          <a:xfrm>
            <a:off x="6167680" y="4918869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Five Prerequisites Before Construction</a:t>
            </a:r>
            <a:endParaRPr dirty="0" sz="500" lang="en-US"/>
          </a:p>
        </p:txBody>
      </p:sp>
      <p:sp>
        <p:nvSpPr>
          <p:cNvPr id="1048811" name="Text 20"/>
          <p:cNvSpPr/>
          <p:nvPr/>
        </p:nvSpPr>
        <p:spPr>
          <a:xfrm>
            <a:off x="6167680" y="5022453"/>
            <a:ext cx="107451" cy="67171"/>
          </a:xfrm>
          <a:prstGeom prst="rect"/>
          <a:noFill/>
        </p:spPr>
        <p:txBody>
          <a:bodyPr anchor="ctr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dirty="0" sz="400" lang="en-US"/>
          </a:p>
        </p:txBody>
      </p:sp>
      <p:sp>
        <p:nvSpPr>
          <p:cNvPr id="1048812" name="Shape 21"/>
          <p:cNvSpPr/>
          <p:nvPr/>
        </p:nvSpPr>
        <p:spPr>
          <a:xfrm>
            <a:off x="6167680" y="5107384"/>
            <a:ext cx="5368890" cy="6350"/>
          </a:xfrm>
          <a:prstGeom prst="rect"/>
          <a:solidFill>
            <a:srgbClr val="1B1B27"/>
          </a:solidFill>
        </p:spPr>
      </p:sp>
      <p:sp>
        <p:nvSpPr>
          <p:cNvPr id="1048813" name="Text 22"/>
          <p:cNvSpPr/>
          <p:nvPr/>
        </p:nvSpPr>
        <p:spPr>
          <a:xfrm>
            <a:off x="6167680" y="5146873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Land</a:t>
            </a:r>
            <a:endParaRPr dirty="0" sz="500" lang="en-US"/>
          </a:p>
        </p:txBody>
      </p:sp>
      <p:sp>
        <p:nvSpPr>
          <p:cNvPr id="1048814" name="Text 23"/>
          <p:cNvSpPr/>
          <p:nvPr/>
        </p:nvSpPr>
        <p:spPr>
          <a:xfrm>
            <a:off x="6167680" y="5248275"/>
            <a:ext cx="5368890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title or long-term lease, 20–25 acres</a:t>
            </a:r>
            <a:endParaRPr dirty="0" sz="400" lang="en-US"/>
          </a:p>
        </p:txBody>
      </p:sp>
      <p:sp>
        <p:nvSpPr>
          <p:cNvPr id="1048815" name="Text 24"/>
          <p:cNvSpPr/>
          <p:nvPr/>
        </p:nvSpPr>
        <p:spPr>
          <a:xfrm>
            <a:off x="6167680" y="5362972"/>
            <a:ext cx="107451" cy="67171"/>
          </a:xfrm>
          <a:prstGeom prst="rect"/>
          <a:noFill/>
        </p:spPr>
        <p:txBody>
          <a:bodyPr anchor="ctr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dirty="0" sz="400" lang="en-US"/>
          </a:p>
        </p:txBody>
      </p:sp>
      <p:sp>
        <p:nvSpPr>
          <p:cNvPr id="1048816" name="Shape 25"/>
          <p:cNvSpPr/>
          <p:nvPr/>
        </p:nvSpPr>
        <p:spPr>
          <a:xfrm>
            <a:off x="6167680" y="5447903"/>
            <a:ext cx="5368890" cy="6350"/>
          </a:xfrm>
          <a:prstGeom prst="rect"/>
          <a:solidFill>
            <a:srgbClr val="1B1B27"/>
          </a:solidFill>
        </p:spPr>
      </p:sp>
      <p:sp>
        <p:nvSpPr>
          <p:cNvPr id="1048817" name="Text 26"/>
          <p:cNvSpPr/>
          <p:nvPr/>
        </p:nvSpPr>
        <p:spPr>
          <a:xfrm>
            <a:off x="6167680" y="5487392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 Connectivity</a:t>
            </a:r>
            <a:endParaRPr dirty="0" sz="500" lang="en-US"/>
          </a:p>
        </p:txBody>
      </p:sp>
      <p:sp>
        <p:nvSpPr>
          <p:cNvPr id="1048818" name="Text 27"/>
          <p:cNvSpPr/>
          <p:nvPr/>
        </p:nvSpPr>
        <p:spPr>
          <a:xfrm>
            <a:off x="6167680" y="5588794"/>
            <a:ext cx="5368890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Utility approval for HT evacuation</a:t>
            </a:r>
            <a:endParaRPr dirty="0" sz="400" lang="en-US"/>
          </a:p>
        </p:txBody>
      </p:sp>
      <p:sp>
        <p:nvSpPr>
          <p:cNvPr id="1048819" name="Text 28"/>
          <p:cNvSpPr/>
          <p:nvPr/>
        </p:nvSpPr>
        <p:spPr>
          <a:xfrm>
            <a:off x="6167680" y="5703491"/>
            <a:ext cx="107451" cy="67171"/>
          </a:xfrm>
          <a:prstGeom prst="rect"/>
          <a:noFill/>
        </p:spPr>
        <p:txBody>
          <a:bodyPr anchor="ctr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dirty="0" sz="400" lang="en-US"/>
          </a:p>
        </p:txBody>
      </p:sp>
      <p:sp>
        <p:nvSpPr>
          <p:cNvPr id="1048820" name="Shape 29"/>
          <p:cNvSpPr/>
          <p:nvPr/>
        </p:nvSpPr>
        <p:spPr>
          <a:xfrm>
            <a:off x="6167680" y="5788422"/>
            <a:ext cx="5368890" cy="6350"/>
          </a:xfrm>
          <a:prstGeom prst="rect"/>
          <a:solidFill>
            <a:srgbClr val="1B1B27"/>
          </a:solidFill>
        </p:spPr>
      </p:sp>
      <p:sp>
        <p:nvSpPr>
          <p:cNvPr id="1048821" name="Text 30"/>
          <p:cNvSpPr/>
          <p:nvPr/>
        </p:nvSpPr>
        <p:spPr>
          <a:xfrm>
            <a:off x="6167680" y="5827911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Offtake / PPA</a:t>
            </a:r>
            <a:endParaRPr dirty="0" sz="500" lang="en-US"/>
          </a:p>
        </p:txBody>
      </p:sp>
      <p:sp>
        <p:nvSpPr>
          <p:cNvPr id="1048822" name="Text 31"/>
          <p:cNvSpPr/>
          <p:nvPr/>
        </p:nvSpPr>
        <p:spPr>
          <a:xfrm>
            <a:off x="6167680" y="5929312"/>
            <a:ext cx="5368890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Creditworthy buyer at viable rate</a:t>
            </a:r>
            <a:endParaRPr dirty="0" sz="400" lang="en-US"/>
          </a:p>
        </p:txBody>
      </p:sp>
      <p:sp>
        <p:nvSpPr>
          <p:cNvPr id="1048823" name="Text 32"/>
          <p:cNvSpPr/>
          <p:nvPr/>
        </p:nvSpPr>
        <p:spPr>
          <a:xfrm>
            <a:off x="6167680" y="6044009"/>
            <a:ext cx="107451" cy="67171"/>
          </a:xfrm>
          <a:prstGeom prst="rect"/>
          <a:noFill/>
        </p:spPr>
        <p:txBody>
          <a:bodyPr anchor="ctr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dirty="0" sz="400" lang="en-US"/>
          </a:p>
        </p:txBody>
      </p:sp>
      <p:sp>
        <p:nvSpPr>
          <p:cNvPr id="1048824" name="Shape 33"/>
          <p:cNvSpPr/>
          <p:nvPr/>
        </p:nvSpPr>
        <p:spPr>
          <a:xfrm>
            <a:off x="6167680" y="6128941"/>
            <a:ext cx="5368890" cy="6350"/>
          </a:xfrm>
          <a:prstGeom prst="rect"/>
          <a:solidFill>
            <a:srgbClr val="1B1B27"/>
          </a:solidFill>
        </p:spPr>
      </p:sp>
      <p:sp>
        <p:nvSpPr>
          <p:cNvPr id="1048825" name="Text 34"/>
          <p:cNvSpPr/>
          <p:nvPr/>
        </p:nvSpPr>
        <p:spPr>
          <a:xfrm>
            <a:off x="6167680" y="6168430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EPC Contract</a:t>
            </a:r>
            <a:endParaRPr dirty="0" sz="500" lang="en-US"/>
          </a:p>
        </p:txBody>
      </p:sp>
      <p:sp>
        <p:nvSpPr>
          <p:cNvPr id="1048826" name="Text 35"/>
          <p:cNvSpPr/>
          <p:nvPr/>
        </p:nvSpPr>
        <p:spPr>
          <a:xfrm>
            <a:off x="6167680" y="6269831"/>
            <a:ext cx="5368890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Fixed-price, performance-guaranteed</a:t>
            </a:r>
            <a:endParaRPr dirty="0" sz="400" lang="en-US"/>
          </a:p>
        </p:txBody>
      </p:sp>
      <p:sp>
        <p:nvSpPr>
          <p:cNvPr id="1048827" name="Text 36"/>
          <p:cNvSpPr/>
          <p:nvPr/>
        </p:nvSpPr>
        <p:spPr>
          <a:xfrm>
            <a:off x="6167680" y="6384528"/>
            <a:ext cx="107451" cy="67171"/>
          </a:xfrm>
          <a:prstGeom prst="rect"/>
          <a:noFill/>
        </p:spPr>
        <p:txBody>
          <a:bodyPr anchor="ctr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dirty="0" sz="400" lang="en-US"/>
          </a:p>
        </p:txBody>
      </p:sp>
      <p:sp>
        <p:nvSpPr>
          <p:cNvPr id="1048828" name="Shape 37"/>
          <p:cNvSpPr/>
          <p:nvPr/>
        </p:nvSpPr>
        <p:spPr>
          <a:xfrm>
            <a:off x="6167680" y="6469459"/>
            <a:ext cx="5368890" cy="6350"/>
          </a:xfrm>
          <a:prstGeom prst="rect"/>
          <a:solidFill>
            <a:srgbClr val="1B1B27"/>
          </a:solidFill>
        </p:spPr>
      </p:sp>
      <p:sp>
        <p:nvSpPr>
          <p:cNvPr id="1048829" name="Text 38"/>
          <p:cNvSpPr/>
          <p:nvPr/>
        </p:nvSpPr>
        <p:spPr>
          <a:xfrm>
            <a:off x="6167680" y="6508948"/>
            <a:ext cx="5368890" cy="8393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4000"/>
              </a:lnSpc>
              <a:buNone/>
            </a:pPr>
            <a:r>
              <a:rPr dirty="0" sz="500" lang="en-US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Financing</a:t>
            </a:r>
            <a:endParaRPr dirty="0" sz="500" lang="en-US"/>
          </a:p>
        </p:txBody>
      </p:sp>
      <p:sp>
        <p:nvSpPr>
          <p:cNvPr id="1048830" name="Text 39"/>
          <p:cNvSpPr/>
          <p:nvPr/>
        </p:nvSpPr>
        <p:spPr>
          <a:xfrm>
            <a:off x="6167680" y="6610350"/>
            <a:ext cx="5368890" cy="5695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8000"/>
              </a:lnSpc>
              <a:buNone/>
            </a:pPr>
            <a:r>
              <a:rPr dirty="0" sz="400" lang="en-US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Bank sanction at target terms</a:t>
            </a:r>
            <a:endParaRPr dirty="0" sz="4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9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883" y="0"/>
            <a:ext cx="12178234" cy="6858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22101316UP</dc:creator>
  <cp:lastModifiedBy>DHARAM THACKER</cp:lastModifiedBy>
  <dcterms:created xsi:type="dcterms:W3CDTF">2026-09-12T05:39:17Z</dcterms:created>
  <dcterms:modified xsi:type="dcterms:W3CDTF">2026-09-23T10:28:21Z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3a76765c65014c4b81259b7084d74f4f_23</vt:lpwstr>
  </property>
</Properties>
</file>